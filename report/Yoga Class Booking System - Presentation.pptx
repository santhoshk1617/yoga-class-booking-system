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eaf51f3-fdcf-6bcd-941c-7a225fcb5bef}">
          <p14:sldIdLst>
            <p14:sldId id="256"/>
            <p14:sldId id="257"/>
            <p14:sldId id="258"/>
          </p14:sldIdLst>
        </p14:section>
        <p14:section name="Design" id="{c5562d58-2b57-a4c1-37e8-c0639824f826}">
          <p14:sldIdLst>
            <p14:sldId id="259"/>
            <p14:sldId id="260"/>
            <p14:sldId id="261"/>
          </p14:sldIdLst>
        </p14:section>
        <p14:section name="Implementation" id="{916349a5-29a1-533c-7497-0d82779ab7fb}">
          <p14:sldIdLst>
            <p14:sldId id="262"/>
            <p14:sldId id="263"/>
            <p14:sldId id="264"/>
          </p14:sldIdLst>
        </p14:section>
        <p14:section name="Results" id="{b70d11b2-3e88-3b8e-d0fd-7576dea61315}">
          <p14:sldIdLst>
            <p14:sldId id="265"/>
            <p14:sldId id="266"/>
            <p14:sldId id="267"/>
          </p14:sldIdLst>
        </p14:section>
        <p14:section name="Conclusion" id="{ee483de9-e9d6-1c7f-309a-4033b237c818}">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Serenity Yoga, a yoga class booking system. It lets members browse and book classes online and lets the studio admin manage the schedule. Built as a full-stack JavaScript application: React frontend, Node.js and Express backend, MongoDB Atlas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with manual booking and how the system solves each point. Mention that availability is calculated live from the database every time the schedule 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features. Members: browse, live availability, booking, my bookings. Admin: dashboard. Security covers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application uses JavaScript: React in the browser, Node and Express on the server, and MongoDB stores JSON-like documents, so data flows as JSON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app runs in the browser and calls the API with fetch. In development, Vite forwards /api calls to the Express server. Express runs CORS, JSON parsing, JWT authentication and the admin check before the route handler, then talks to MongoDB Atlas through Mongoose. The highlighted middleware is used only on protected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and classes are independent collections. Bookings link them with ObjectId references, so one user has many bookings and one class has many bookings. Cancelling sets status to cancelled rather than deleting, which keeps history. A unique compound index prevents the same user booking the same class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endpoints return JSON. Protected routes need the JWT in the Authorization header. Admin routes also check the role. Errors use proper status codes: 400 invalid input, 401 not logged in, 403 not admin, 404 not found, 409 conflict like a full class or duplicate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booking route. Each check returns an error with a clear message and status code, which the frontend shows as a toast. Only if all checks pass is the booking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Client-side validation gives instant feedback, but the server never trusts the client and validates everything again. Security: passwords are hashed with bcrypt, sessions use signed JWTs, admin routes check the role, and secrets like the database URI live in a .env file that is not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main screens. If possible, give a live demo here: browse, filter, book a class, check My Bookings, then log in as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documents stored in the Atlas cluster. Note the ObjectId references in bookings, the bcrypt hash instead of a plain password, and the cancelled booking kept for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scenarios were run through the website address, so they also test the Vite proxy between frontend and backend. Each one checks a business rule or a security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what was achieved, then the planned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invite questions. Keep the demo logins on screen for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2E4D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6583680" cy="14630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PLAIN">
    <p:bg>
      <p:bgPr>
        <a:solidFill>
          <a:srgbClr val="2E4D3D"/>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Yoga Class Booking System  |  Web Technology (23CS2048)</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7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7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4.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backdrop"/>
          <p:cNvSpPr/>
          <p:nvPr/>
        </p:nvSpPr>
        <p:spPr>
          <a:xfrm>
            <a:off x="548640" y="502920"/>
            <a:ext cx="914400" cy="914400"/>
          </a:xfrm>
          <a:prstGeom prst="ellipse">
            <a:avLst/>
          </a:prstGeom>
          <a:solidFill>
            <a:schemeClr val="bg1"/>
          </a:solidFill>
          <a:ln/>
        </p:spPr>
      </p:sp>
      <p:pic>
        <p:nvPicPr>
          <p:cNvPr id="3" name="Karunya logo" descr="preencoded.png">    </p:cNvPr>
          <p:cNvPicPr>
            <a:picLocks noChangeAspect="1"/>
          </p:cNvPicPr>
          <p:nvPr/>
        </p:nvPicPr>
        <p:blipFill>
          <a:blip r:embed="rId1"/>
          <a:stretch>
            <a:fillRect/>
          </a:stretch>
        </p:blipFill>
        <p:spPr>
          <a:xfrm>
            <a:off x="676656" y="621792"/>
            <a:ext cx="658368" cy="622972"/>
          </a:xfrm>
          <a:prstGeom prst="rect">
            <a:avLst/>
          </a:prstGeom>
        </p:spPr>
      </p:pic>
      <p:sp>
        <p:nvSpPr>
          <p:cNvPr id="4" name="Text 1"/>
          <p:cNvSpPr txBox="1"/>
          <p:nvPr/>
        </p:nvSpPr>
        <p:spPr>
          <a:xfrm>
            <a:off x="548640" y="1600200"/>
            <a:ext cx="6400800" cy="320040"/>
          </a:xfrm>
          <a:prstGeom prst="rect">
            <a:avLst/>
          </a:prstGeom>
          <a:noFill/>
          <a:ln/>
        </p:spPr>
        <p:txBody>
          <a:bodyPr wrap="square" lIns="0" tIns="0" rIns="0" bIns="0" rtlCol="0" anchor="t"/>
          <a:lstStyle/>
          <a:p>
            <a:pPr indent="0" marL="0">
              <a:buNone/>
            </a:pPr>
            <a:r>
              <a:rPr lang="en-US" sz="1400" b="1" spc="200" kern="0" dirty="0">
                <a:solidFill>
                  <a:schemeClr val="accent2"/>
                </a:solidFill>
              </a:rPr>
              <a:t>WEB TECHNOLOGY  ·  23CS2048</a:t>
            </a:r>
            <a:endParaRPr lang="en-US" sz="1400" dirty="0"/>
          </a:p>
        </p:txBody>
      </p:sp>
      <p:sp>
        <p:nvSpPr>
          <p:cNvPr id="5" name="Text 0"/>
          <p:cNvSpPr/>
          <p:nvPr>
            <p:ph idx="100" type="title" hasCustomPrompt="1"/>
          </p:nvPr>
        </p:nvSpPr>
        <p:spPr>
          <a:xfrm>
            <a:off x="548640" y="2011680"/>
            <a:ext cx="6583680" cy="146304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Yoga Class Booking System</a:t>
            </a:r>
            <a:endParaRPr lang="en-US" sz="4400" dirty="0"/>
          </a:p>
        </p:txBody>
      </p:sp>
      <p:sp>
        <p:nvSpPr>
          <p:cNvPr id="6" name="Text 3"/>
          <p:cNvSpPr txBox="1"/>
          <p:nvPr/>
        </p:nvSpPr>
        <p:spPr>
          <a:xfrm>
            <a:off x="548640" y="3611880"/>
            <a:ext cx="5852160" cy="822960"/>
          </a:xfrm>
          <a:prstGeom prst="rect">
            <a:avLst/>
          </a:prstGeom>
          <a:noFill/>
          <a:ln/>
        </p:spPr>
        <p:txBody>
          <a:bodyPr wrap="square" lIns="0" tIns="0" rIns="0" bIns="0" rtlCol="0" anchor="t"/>
          <a:lstStyle/>
          <a:p>
            <a:pPr indent="0" marL="0">
              <a:buNone/>
            </a:pPr>
            <a:r>
              <a:rPr lang="en-US" sz="1800" dirty="0">
                <a:solidFill>
                  <a:schemeClr val="bg2"/>
                </a:solidFill>
              </a:rPr>
              <a:t>A real-time web application for booking yoga classes, built with React, Node.js, Express and MongoDB Atlas</a:t>
            </a:r>
            <a:endParaRPr lang="en-US" sz="1800" dirty="0"/>
          </a:p>
        </p:txBody>
      </p:sp>
      <p:sp>
        <p:nvSpPr>
          <p:cNvPr id="7" name="Text 4"/>
          <p:cNvSpPr txBox="1"/>
          <p:nvPr/>
        </p:nvSpPr>
        <p:spPr>
          <a:xfrm>
            <a:off x="548640" y="4892040"/>
            <a:ext cx="5852160" cy="365760"/>
          </a:xfrm>
          <a:prstGeom prst="rect">
            <a:avLst/>
          </a:prstGeom>
          <a:noFill/>
          <a:ln/>
        </p:spPr>
        <p:txBody>
          <a:bodyPr wrap="square" lIns="0" tIns="0" rIns="0" bIns="0" rtlCol="0" anchor="t"/>
          <a:lstStyle/>
          <a:p>
            <a:pPr indent="0" marL="0">
              <a:buNone/>
            </a:pPr>
            <a:r>
              <a:rPr lang="en-US" sz="1800" b="1" dirty="0">
                <a:solidFill>
                  <a:schemeClr val="bg1"/>
                </a:solidFill>
              </a:rPr>
              <a:t>STUDENT NAME (REG.NO)</a:t>
            </a:r>
            <a:endParaRPr lang="en-US" sz="1800" dirty="0"/>
          </a:p>
        </p:txBody>
      </p:sp>
      <p:sp>
        <p:nvSpPr>
          <p:cNvPr id="8" name="Text 5"/>
          <p:cNvSpPr txBox="1"/>
          <p:nvPr/>
        </p:nvSpPr>
        <p:spPr>
          <a:xfrm>
            <a:off x="548640" y="5303520"/>
            <a:ext cx="5852160" cy="640080"/>
          </a:xfrm>
          <a:prstGeom prst="rect">
            <a:avLst/>
          </a:prstGeom>
          <a:noFill/>
          <a:ln/>
        </p:spPr>
        <p:txBody>
          <a:bodyPr wrap="square" lIns="0" tIns="0" rIns="0" bIns="0" rtlCol="0" anchor="t"/>
          <a:lstStyle/>
          <a:p>
            <a:pPr indent="0" marL="0">
              <a:buNone/>
            </a:pPr>
            <a:r>
              <a:rPr lang="en-US" sz="1400" dirty="0">
                <a:solidFill>
                  <a:schemeClr val="accent3"/>
                </a:solidFill>
              </a:rPr>
              <a:t>Division of Computer Science and Engineering</a:t>
            </a:r>
            <a:endParaRPr lang="en-US" sz="1400" dirty="0"/>
          </a:p>
          <a:p>
            <a:pPr indent="0" marL="0">
              <a:buNone/>
            </a:pPr>
            <a:r>
              <a:rPr lang="en-US" sz="1400" dirty="0">
                <a:solidFill>
                  <a:schemeClr val="accent3"/>
                </a:solidFill>
              </a:rPr>
              <a:t>Karunya Institute of Technology and Sciences</a:t>
            </a:r>
            <a:endParaRPr lang="en-US" sz="1400" dirty="0"/>
          </a:p>
        </p:txBody>
      </p:sp>
      <p:sp>
        <p:nvSpPr>
          <p:cNvPr id="9" name="Screenshot frame"/>
          <p:cNvSpPr/>
          <p:nvPr/>
        </p:nvSpPr>
        <p:spPr>
          <a:xfrm>
            <a:off x="7086600" y="1600200"/>
            <a:ext cx="4663440" cy="2843213"/>
          </a:xfrm>
          <a:prstGeom prst="roundRect">
            <a:avLst>
              <a:gd name="adj" fmla="val 3216"/>
            </a:avLst>
          </a:prstGeom>
          <a:solidFill>
            <a:schemeClr val="bg1"/>
          </a:solidFill>
          <a:ln/>
        </p:spPr>
      </p:sp>
      <p:pic>
        <p:nvPicPr>
          <p:cNvPr id="10" name="Home page screenshot" descr="preencoded.png">    </p:cNvPr>
          <p:cNvPicPr>
            <a:picLocks noChangeAspect="1"/>
          </p:cNvPicPr>
          <p:nvPr/>
        </p:nvPicPr>
        <p:blipFill>
          <a:blip r:embed="rId2"/>
          <a:stretch>
            <a:fillRect/>
          </a:stretch>
        </p:blipFill>
        <p:spPr>
          <a:xfrm>
            <a:off x="7178040" y="1691640"/>
            <a:ext cx="4480560" cy="2660333"/>
          </a:xfrm>
          <a:prstGeom prst="rect">
            <a:avLst/>
          </a:prstGeom>
        </p:spPr>
      </p:pic>
      <p:sp>
        <p:nvSpPr>
          <p:cNvPr id="11" name="Text 7"/>
          <p:cNvSpPr txBox="1"/>
          <p:nvPr/>
        </p:nvSpPr>
        <p:spPr>
          <a:xfrm>
            <a:off x="7086600" y="4580572"/>
            <a:ext cx="4663440" cy="274320"/>
          </a:xfrm>
          <a:prstGeom prst="rect">
            <a:avLst/>
          </a:prstGeom>
          <a:noFill/>
          <a:ln/>
        </p:spPr>
        <p:txBody>
          <a:bodyPr wrap="square" lIns="0" tIns="0" rIns="0" bIns="0" rtlCol="0" anchor="t"/>
          <a:lstStyle/>
          <a:p>
            <a:pPr algn="ctr" indent="0" marL="0">
              <a:buNone/>
            </a:pPr>
            <a:r>
              <a:rPr lang="en-US" sz="1200" i="1" dirty="0">
                <a:solidFill>
                  <a:schemeClr val="accent3"/>
                </a:solidFill>
              </a:rPr>
              <a:t>Serenity Yoga – home page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From phone bookings to real-time online reservations</a:t>
            </a:r>
            <a:endParaRPr lang="en-US" sz="3000" dirty="0"/>
          </a:p>
        </p:txBody>
      </p:sp>
      <p:sp>
        <p:nvSpPr>
          <p:cNvPr id="3" name="Problem card"/>
          <p:cNvSpPr/>
          <p:nvPr/>
        </p:nvSpPr>
        <p:spPr>
          <a:xfrm>
            <a:off x="548640" y="1371600"/>
            <a:ext cx="5029200" cy="4663440"/>
          </a:xfrm>
          <a:prstGeom prst="roundRect">
            <a:avLst>
              <a:gd name="adj" fmla="val 2353"/>
            </a:avLst>
          </a:prstGeom>
          <a:solidFill>
            <a:schemeClr val="bg2"/>
          </a:solidFill>
          <a:ln/>
        </p:spPr>
      </p:sp>
      <p:sp>
        <p:nvSpPr>
          <p:cNvPr id="4" name="Problem circle"/>
          <p:cNvSpPr/>
          <p:nvPr/>
        </p:nvSpPr>
        <p:spPr>
          <a:xfrm>
            <a:off x="868680" y="1645920"/>
            <a:ext cx="685800" cy="685800"/>
          </a:xfrm>
          <a:prstGeom prst="ellipse">
            <a:avLst/>
          </a:prstGeom>
          <a:solidFill>
            <a:schemeClr val="accent4"/>
          </a:solidFill>
          <a:ln/>
        </p:spPr>
      </p:sp>
      <p:pic>
        <p:nvPicPr>
          <p:cNvPr id="5" name="Problem icon" descr="preencoded.png">    </p:cNvPr>
          <p:cNvPicPr>
            <a:picLocks noChangeAspect="1"/>
          </p:cNvPicPr>
          <p:nvPr/>
        </p:nvPicPr>
        <p:blipFill>
          <a:blip r:embed="rId1"/>
          <a:stretch>
            <a:fillRect/>
          </a:stretch>
        </p:blipFill>
        <p:spPr>
          <a:xfrm>
            <a:off x="1040130" y="1817370"/>
            <a:ext cx="342900" cy="342900"/>
          </a:xfrm>
          <a:prstGeom prst="rect">
            <a:avLst/>
          </a:prstGeom>
        </p:spPr>
      </p:pic>
      <p:sp>
        <p:nvSpPr>
          <p:cNvPr id="6" name="Text 3"/>
          <p:cNvSpPr txBox="1"/>
          <p:nvPr/>
        </p:nvSpPr>
        <p:spPr>
          <a:xfrm>
            <a:off x="1737360" y="1737360"/>
            <a:ext cx="3657600"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The problem</a:t>
            </a:r>
            <a:endParaRPr lang="en-US" sz="2200" dirty="0"/>
          </a:p>
        </p:txBody>
      </p:sp>
      <p:sp>
        <p:nvSpPr>
          <p:cNvPr id="7" name="Text 4"/>
          <p:cNvSpPr txBox="1"/>
          <p:nvPr/>
        </p:nvSpPr>
        <p:spPr>
          <a:xfrm>
            <a:off x="868680" y="2606040"/>
            <a:ext cx="4389120" cy="3200400"/>
          </a:xfrm>
          <a:prstGeom prst="rect">
            <a:avLst/>
          </a:prstGeom>
          <a:noFill/>
          <a:ln/>
        </p:spPr>
        <p:txBody>
          <a:bodyPr wrap="square" lIns="0" tIns="0" rIns="0" bIns="0" rtlCol="0" anchor="t"/>
          <a:lstStyle/>
          <a:p>
            <a:pPr marL="190500" indent="-190500">
              <a:spcAft>
                <a:spcPts val="600"/>
              </a:spcAft>
              <a:buSzPct val="100000"/>
              <a:buChar char="•"/>
            </a:pPr>
            <a:r>
              <a:rPr lang="en-US" sz="1600" dirty="0">
                <a:solidFill>
                  <a:schemeClr val="tx1"/>
                </a:solidFill>
              </a:rPr>
              <a:t>Classes booked by phone or walk-in, recorded by hand</a:t>
            </a:r>
            <a:endParaRPr lang="en-US" sz="1400" dirty="0"/>
          </a:p>
          <a:p>
            <a:pPr marL="190500" indent="-190500">
              <a:spcAft>
                <a:spcPts val="600"/>
              </a:spcAft>
              <a:buSzPct val="100000"/>
              <a:buChar char="•"/>
            </a:pPr>
            <a:r>
              <a:rPr lang="en-US" sz="1600" dirty="0">
                <a:solidFill>
                  <a:schemeClr val="tx1"/>
                </a:solidFill>
              </a:rPr>
              <a:t>Members cannot see which classes still have space</a:t>
            </a:r>
            <a:endParaRPr lang="en-US" sz="1400" dirty="0"/>
          </a:p>
          <a:p>
            <a:pPr marL="190500" indent="-190500">
              <a:spcAft>
                <a:spcPts val="600"/>
              </a:spcAft>
              <a:buSzPct val="100000"/>
              <a:buChar char="•"/>
            </a:pPr>
            <a:r>
              <a:rPr lang="en-US" sz="1600" dirty="0">
                <a:solidFill>
                  <a:schemeClr val="tx1"/>
                </a:solidFill>
              </a:rPr>
              <a:t>Overbooking and double bookings happen easily</a:t>
            </a:r>
            <a:endParaRPr lang="en-US" sz="1400" dirty="0"/>
          </a:p>
          <a:p>
            <a:pPr marL="190500" indent="-190500">
              <a:spcAft>
                <a:spcPts val="600"/>
              </a:spcAft>
              <a:buSzPct val="100000"/>
              <a:buChar char="•"/>
            </a:pPr>
            <a:r>
              <a:rPr lang="en-US" sz="1600" dirty="0">
                <a:solidFill>
                  <a:schemeClr val="tx1"/>
                </a:solidFill>
              </a:rPr>
              <a:t>No single view of attendance or revenue for the studio</a:t>
            </a:r>
            <a:endParaRPr lang="en-US" sz="1400" dirty="0"/>
          </a:p>
        </p:txBody>
      </p:sp>
      <p:sp>
        <p:nvSpPr>
          <p:cNvPr id="8" name="Arrow"/>
          <p:cNvSpPr/>
          <p:nvPr/>
        </p:nvSpPr>
        <p:spPr>
          <a:xfrm>
            <a:off x="5806440" y="3429000"/>
            <a:ext cx="594360" cy="548640"/>
          </a:xfrm>
          <a:prstGeom prst="rightArrow">
            <a:avLst/>
          </a:prstGeom>
          <a:solidFill>
            <a:schemeClr val="accent2"/>
          </a:solidFill>
          <a:ln/>
        </p:spPr>
      </p:sp>
      <p:sp>
        <p:nvSpPr>
          <p:cNvPr id="9" name="Solution card"/>
          <p:cNvSpPr/>
          <p:nvPr/>
        </p:nvSpPr>
        <p:spPr>
          <a:xfrm>
            <a:off x="6611112" y="1371600"/>
            <a:ext cx="5029200" cy="4663440"/>
          </a:xfrm>
          <a:prstGeom prst="roundRect">
            <a:avLst>
              <a:gd name="adj" fmla="val 2353"/>
            </a:avLst>
          </a:prstGeom>
          <a:solidFill>
            <a:schemeClr val="bg2"/>
          </a:solidFill>
          <a:ln/>
        </p:spPr>
      </p:sp>
      <p:sp>
        <p:nvSpPr>
          <p:cNvPr id="10" name="Solution circle"/>
          <p:cNvSpPr/>
          <p:nvPr/>
        </p:nvSpPr>
        <p:spPr>
          <a:xfrm>
            <a:off x="6931152" y="1645920"/>
            <a:ext cx="685800" cy="685800"/>
          </a:xfrm>
          <a:prstGeom prst="ellipse">
            <a:avLst/>
          </a:prstGeom>
          <a:solidFill>
            <a:schemeClr val="accent1"/>
          </a:solidFill>
          <a:ln/>
        </p:spPr>
      </p:sp>
      <p:pic>
        <p:nvPicPr>
          <p:cNvPr id="11" name="Solution icon" descr="preencoded.png">    </p:cNvPr>
          <p:cNvPicPr>
            <a:picLocks noChangeAspect="1"/>
          </p:cNvPicPr>
          <p:nvPr/>
        </p:nvPicPr>
        <p:blipFill>
          <a:blip r:embed="rId2"/>
          <a:stretch>
            <a:fillRect/>
          </a:stretch>
        </p:blipFill>
        <p:spPr>
          <a:xfrm>
            <a:off x="7102602" y="1817370"/>
            <a:ext cx="342900" cy="342900"/>
          </a:xfrm>
          <a:prstGeom prst="rect">
            <a:avLst/>
          </a:prstGeom>
        </p:spPr>
      </p:pic>
      <p:sp>
        <p:nvSpPr>
          <p:cNvPr id="12" name="Text 8"/>
          <p:cNvSpPr txBox="1"/>
          <p:nvPr/>
        </p:nvSpPr>
        <p:spPr>
          <a:xfrm>
            <a:off x="7799832" y="1737360"/>
            <a:ext cx="3657600"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Our solution</a:t>
            </a:r>
            <a:endParaRPr lang="en-US" sz="2200" dirty="0"/>
          </a:p>
        </p:txBody>
      </p:sp>
      <p:sp>
        <p:nvSpPr>
          <p:cNvPr id="13" name="Text 9"/>
          <p:cNvSpPr txBox="1"/>
          <p:nvPr/>
        </p:nvSpPr>
        <p:spPr>
          <a:xfrm>
            <a:off x="6931152" y="2606040"/>
            <a:ext cx="4389120" cy="3200400"/>
          </a:xfrm>
          <a:prstGeom prst="rect">
            <a:avLst/>
          </a:prstGeom>
          <a:noFill/>
          <a:ln/>
        </p:spPr>
        <p:txBody>
          <a:bodyPr wrap="square" lIns="0" tIns="0" rIns="0" bIns="0" rtlCol="0" anchor="t"/>
          <a:lstStyle/>
          <a:p>
            <a:pPr marL="190500" indent="-190500">
              <a:spcAft>
                <a:spcPts val="600"/>
              </a:spcAft>
              <a:buSzPct val="100000"/>
              <a:buChar char="•"/>
            </a:pPr>
            <a:r>
              <a:rPr lang="en-US" sz="1600" dirty="0">
                <a:solidFill>
                  <a:schemeClr val="tx1"/>
                </a:solidFill>
              </a:rPr>
              <a:t>Online schedule with live “spots left” for every class</a:t>
            </a:r>
            <a:endParaRPr lang="en-US" sz="1400" dirty="0"/>
          </a:p>
          <a:p>
            <a:pPr marL="190500" indent="-190500">
              <a:spcAft>
                <a:spcPts val="600"/>
              </a:spcAft>
              <a:buSzPct val="100000"/>
              <a:buChar char="•"/>
            </a:pPr>
            <a:r>
              <a:rPr lang="en-US" sz="1600" dirty="0">
                <a:solidFill>
                  <a:schemeClr val="tx1"/>
                </a:solidFill>
              </a:rPr>
              <a:t>One-click booking and cancellation for members</a:t>
            </a:r>
            <a:endParaRPr lang="en-US" sz="1400" dirty="0"/>
          </a:p>
          <a:p>
            <a:pPr marL="190500" indent="-190500">
              <a:spcAft>
                <a:spcPts val="600"/>
              </a:spcAft>
              <a:buSzPct val="100000"/>
              <a:buChar char="•"/>
            </a:pPr>
            <a:r>
              <a:rPr lang="en-US" sz="1600" dirty="0">
                <a:solidFill>
                  <a:schemeClr val="tx1"/>
                </a:solidFill>
              </a:rPr>
              <a:t>Server rules block full classes, double and late bookings</a:t>
            </a:r>
            <a:endParaRPr lang="en-US" sz="1400" dirty="0"/>
          </a:p>
          <a:p>
            <a:pPr marL="190500" indent="-190500">
              <a:spcAft>
                <a:spcPts val="600"/>
              </a:spcAft>
              <a:buSzPct val="100000"/>
              <a:buChar char="•"/>
            </a:pPr>
            <a:r>
              <a:rPr lang="en-US" sz="1600" dirty="0">
                <a:solidFill>
                  <a:schemeClr val="tx1"/>
                </a:solidFill>
              </a:rPr>
              <a:t>Admin dashboard for classes, attendees and statistics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7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Six core features for members and administrators</a:t>
            </a:r>
            <a:endParaRPr lang="en-US" sz="3000" dirty="0"/>
          </a:p>
        </p:txBody>
      </p:sp>
      <p:sp>
        <p:nvSpPr>
          <p:cNvPr id="3" name="Feature 1"/>
          <p:cNvSpPr/>
          <p:nvPr/>
        </p:nvSpPr>
        <p:spPr>
          <a:xfrm>
            <a:off x="548640" y="1371600"/>
            <a:ext cx="3502152" cy="2194560"/>
          </a:xfrm>
          <a:prstGeom prst="roundRect">
            <a:avLst>
              <a:gd name="adj" fmla="val 5000"/>
            </a:avLst>
          </a:prstGeom>
          <a:solidFill>
            <a:schemeClr val="bg2"/>
          </a:solidFill>
          <a:ln/>
        </p:spPr>
      </p:sp>
      <p:sp>
        <p:nvSpPr>
          <p:cNvPr id="4" name="Feature 1 circle"/>
          <p:cNvSpPr/>
          <p:nvPr/>
        </p:nvSpPr>
        <p:spPr>
          <a:xfrm>
            <a:off x="822960" y="1645920"/>
            <a:ext cx="640080" cy="640080"/>
          </a:xfrm>
          <a:prstGeom prst="ellipse">
            <a:avLst/>
          </a:prstGeom>
          <a:solidFill>
            <a:schemeClr val="accent1"/>
          </a:solidFill>
          <a:ln/>
        </p:spPr>
      </p:sp>
      <p:pic>
        <p:nvPicPr>
          <p:cNvPr id="5" name="Feature 1 icon" descr="preencoded.png">    </p:cNvPr>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1600200" y="1645920"/>
            <a:ext cx="2267712" cy="640080"/>
          </a:xfrm>
          <a:prstGeom prst="rect">
            <a:avLst/>
          </a:prstGeom>
          <a:noFill/>
          <a:ln/>
        </p:spPr>
        <p:txBody>
          <a:bodyPr wrap="square" lIns="0" tIns="0" rIns="0" bIns="0" rtlCol="0" anchor="ctr"/>
          <a:lstStyle/>
          <a:p>
            <a:pPr indent="0" marL="0">
              <a:buNone/>
            </a:pPr>
            <a:r>
              <a:rPr lang="en-US" sz="1800" b="1" dirty="0">
                <a:solidFill>
                  <a:schemeClr val="tx1"/>
                </a:solidFill>
              </a:rPr>
              <a:t>Browse &amp; filter</a:t>
            </a:r>
            <a:endParaRPr lang="en-US" sz="1800" dirty="0"/>
          </a:p>
        </p:txBody>
      </p:sp>
      <p:sp>
        <p:nvSpPr>
          <p:cNvPr id="7" name="Text 4"/>
          <p:cNvSpPr txBox="1"/>
          <p:nvPr/>
        </p:nvSpPr>
        <p:spPr>
          <a:xfrm>
            <a:off x="822960" y="2423160"/>
            <a:ext cx="2953512" cy="1005840"/>
          </a:xfrm>
          <a:prstGeom prst="rect">
            <a:avLst/>
          </a:prstGeom>
          <a:noFill/>
          <a:ln/>
        </p:spPr>
        <p:txBody>
          <a:bodyPr wrap="square" lIns="0" tIns="0" rIns="0" bIns="0" rtlCol="0" anchor="t"/>
          <a:lstStyle/>
          <a:p>
            <a:pPr indent="0" marL="0">
              <a:buNone/>
            </a:pPr>
            <a:r>
              <a:rPr lang="en-US" sz="1400" dirty="0">
                <a:solidFill>
                  <a:schemeClr val="tx2"/>
                </a:solidFill>
              </a:rPr>
              <a:t>Two-week schedule grouped by day, with search and filters for style, level and date</a:t>
            </a:r>
            <a:endParaRPr lang="en-US" sz="1400" dirty="0"/>
          </a:p>
        </p:txBody>
      </p:sp>
      <p:sp>
        <p:nvSpPr>
          <p:cNvPr id="8" name="Feature 2"/>
          <p:cNvSpPr/>
          <p:nvPr/>
        </p:nvSpPr>
        <p:spPr>
          <a:xfrm>
            <a:off x="4325112" y="1371600"/>
            <a:ext cx="3502152" cy="2194560"/>
          </a:xfrm>
          <a:prstGeom prst="roundRect">
            <a:avLst>
              <a:gd name="adj" fmla="val 5000"/>
            </a:avLst>
          </a:prstGeom>
          <a:solidFill>
            <a:schemeClr val="bg2"/>
          </a:solidFill>
          <a:ln/>
        </p:spPr>
      </p:sp>
      <p:sp>
        <p:nvSpPr>
          <p:cNvPr id="9" name="Feature 2 circle"/>
          <p:cNvSpPr/>
          <p:nvPr/>
        </p:nvSpPr>
        <p:spPr>
          <a:xfrm>
            <a:off x="4599432" y="1645920"/>
            <a:ext cx="640080" cy="640080"/>
          </a:xfrm>
          <a:prstGeom prst="ellipse">
            <a:avLst/>
          </a:prstGeom>
          <a:solidFill>
            <a:schemeClr val="accent1"/>
          </a:solidFill>
          <a:ln/>
        </p:spPr>
      </p:sp>
      <p:pic>
        <p:nvPicPr>
          <p:cNvPr id="10" name="Feature 2 icon" descr="preencoded.png">    </p:cNvPr>
          <p:cNvPicPr>
            <a:picLocks noChangeAspect="1"/>
          </p:cNvPicPr>
          <p:nvPr/>
        </p:nvPicPr>
        <p:blipFill>
          <a:blip r:embed="rId2"/>
          <a:stretch>
            <a:fillRect/>
          </a:stretch>
        </p:blipFill>
        <p:spPr>
          <a:xfrm>
            <a:off x="4759452" y="1805940"/>
            <a:ext cx="320040" cy="320040"/>
          </a:xfrm>
          <a:prstGeom prst="rect">
            <a:avLst/>
          </a:prstGeom>
        </p:spPr>
      </p:pic>
      <p:sp>
        <p:nvSpPr>
          <p:cNvPr id="11" name="Text 7"/>
          <p:cNvSpPr txBox="1"/>
          <p:nvPr/>
        </p:nvSpPr>
        <p:spPr>
          <a:xfrm>
            <a:off x="5376672" y="1645920"/>
            <a:ext cx="2267712" cy="640080"/>
          </a:xfrm>
          <a:prstGeom prst="rect">
            <a:avLst/>
          </a:prstGeom>
          <a:noFill/>
          <a:ln/>
        </p:spPr>
        <p:txBody>
          <a:bodyPr wrap="square" lIns="0" tIns="0" rIns="0" bIns="0" rtlCol="0" anchor="ctr"/>
          <a:lstStyle/>
          <a:p>
            <a:pPr indent="0" marL="0">
              <a:buNone/>
            </a:pPr>
            <a:r>
              <a:rPr lang="en-US" sz="1800" b="1" dirty="0">
                <a:solidFill>
                  <a:schemeClr val="tx1"/>
                </a:solidFill>
              </a:rPr>
              <a:t>Live availability</a:t>
            </a:r>
            <a:endParaRPr lang="en-US" sz="1800" dirty="0"/>
          </a:p>
        </p:txBody>
      </p:sp>
      <p:sp>
        <p:nvSpPr>
          <p:cNvPr id="12" name="Text 8"/>
          <p:cNvSpPr txBox="1"/>
          <p:nvPr/>
        </p:nvSpPr>
        <p:spPr>
          <a:xfrm>
            <a:off x="4599432" y="2423160"/>
            <a:ext cx="2953512" cy="1005840"/>
          </a:xfrm>
          <a:prstGeom prst="rect">
            <a:avLst/>
          </a:prstGeom>
          <a:noFill/>
          <a:ln/>
        </p:spPr>
        <p:txBody>
          <a:bodyPr wrap="square" lIns="0" tIns="0" rIns="0" bIns="0" rtlCol="0" anchor="t"/>
          <a:lstStyle/>
          <a:p>
            <a:pPr indent="0" marL="0">
              <a:buNone/>
            </a:pPr>
            <a:r>
              <a:rPr lang="en-US" sz="1400" dirty="0">
                <a:solidFill>
                  <a:schemeClr val="tx2"/>
                </a:solidFill>
              </a:rPr>
              <a:t>Each class shows booked seats and spots left, calculated from MongoDB</a:t>
            </a:r>
            <a:endParaRPr lang="en-US" sz="1400" dirty="0"/>
          </a:p>
        </p:txBody>
      </p:sp>
      <p:sp>
        <p:nvSpPr>
          <p:cNvPr id="13" name="Feature 3"/>
          <p:cNvSpPr/>
          <p:nvPr/>
        </p:nvSpPr>
        <p:spPr>
          <a:xfrm>
            <a:off x="8101584" y="1371600"/>
            <a:ext cx="3502152" cy="2194560"/>
          </a:xfrm>
          <a:prstGeom prst="roundRect">
            <a:avLst>
              <a:gd name="adj" fmla="val 5000"/>
            </a:avLst>
          </a:prstGeom>
          <a:solidFill>
            <a:schemeClr val="bg2"/>
          </a:solidFill>
          <a:ln/>
        </p:spPr>
      </p:sp>
      <p:sp>
        <p:nvSpPr>
          <p:cNvPr id="14" name="Feature 3 circle"/>
          <p:cNvSpPr/>
          <p:nvPr/>
        </p:nvSpPr>
        <p:spPr>
          <a:xfrm>
            <a:off x="8375904" y="1645920"/>
            <a:ext cx="640080" cy="640080"/>
          </a:xfrm>
          <a:prstGeom prst="ellipse">
            <a:avLst/>
          </a:prstGeom>
          <a:solidFill>
            <a:schemeClr val="accent1"/>
          </a:solidFill>
          <a:ln/>
        </p:spPr>
      </p:sp>
      <p:pic>
        <p:nvPicPr>
          <p:cNvPr id="15" name="Feature 3 icon" descr="preencoded.png">    </p:cNvPr>
          <p:cNvPicPr>
            <a:picLocks noChangeAspect="1"/>
          </p:cNvPicPr>
          <p:nvPr/>
        </p:nvPicPr>
        <p:blipFill>
          <a:blip r:embed="rId3"/>
          <a:stretch>
            <a:fillRect/>
          </a:stretch>
        </p:blipFill>
        <p:spPr>
          <a:xfrm>
            <a:off x="8535924" y="1805940"/>
            <a:ext cx="320040" cy="320040"/>
          </a:xfrm>
          <a:prstGeom prst="rect">
            <a:avLst/>
          </a:prstGeom>
        </p:spPr>
      </p:pic>
      <p:sp>
        <p:nvSpPr>
          <p:cNvPr id="16" name="Text 11"/>
          <p:cNvSpPr txBox="1"/>
          <p:nvPr/>
        </p:nvSpPr>
        <p:spPr>
          <a:xfrm>
            <a:off x="9153144" y="1645920"/>
            <a:ext cx="2267712" cy="640080"/>
          </a:xfrm>
          <a:prstGeom prst="rect">
            <a:avLst/>
          </a:prstGeom>
          <a:noFill/>
          <a:ln/>
        </p:spPr>
        <p:txBody>
          <a:bodyPr wrap="square" lIns="0" tIns="0" rIns="0" bIns="0" rtlCol="0" anchor="ctr"/>
          <a:lstStyle/>
          <a:p>
            <a:pPr indent="0" marL="0">
              <a:buNone/>
            </a:pPr>
            <a:r>
              <a:rPr lang="en-US" sz="1800" b="1" dirty="0">
                <a:solidFill>
                  <a:schemeClr val="tx1"/>
                </a:solidFill>
              </a:rPr>
              <a:t>One-click booking</a:t>
            </a:r>
            <a:endParaRPr lang="en-US" sz="1800" dirty="0"/>
          </a:p>
        </p:txBody>
      </p:sp>
      <p:sp>
        <p:nvSpPr>
          <p:cNvPr id="17" name="Text 12"/>
          <p:cNvSpPr txBox="1"/>
          <p:nvPr/>
        </p:nvSpPr>
        <p:spPr>
          <a:xfrm>
            <a:off x="8375904" y="2423160"/>
            <a:ext cx="2953512" cy="1005840"/>
          </a:xfrm>
          <a:prstGeom prst="rect">
            <a:avLst/>
          </a:prstGeom>
          <a:noFill/>
          <a:ln/>
        </p:spPr>
        <p:txBody>
          <a:bodyPr wrap="square" lIns="0" tIns="0" rIns="0" bIns="0" rtlCol="0" anchor="t"/>
          <a:lstStyle/>
          <a:p>
            <a:pPr indent="0" marL="0">
              <a:buNone/>
            </a:pPr>
            <a:r>
              <a:rPr lang="en-US" sz="1400" dirty="0">
                <a:solidFill>
                  <a:schemeClr val="tx2"/>
                </a:solidFill>
              </a:rPr>
              <a:t>Members book instantly; guests are sent to log in first, then returned</a:t>
            </a:r>
            <a:endParaRPr lang="en-US" sz="1400" dirty="0"/>
          </a:p>
        </p:txBody>
      </p:sp>
      <p:sp>
        <p:nvSpPr>
          <p:cNvPr id="18" name="Feature 4"/>
          <p:cNvSpPr/>
          <p:nvPr/>
        </p:nvSpPr>
        <p:spPr>
          <a:xfrm>
            <a:off x="548640" y="3840480"/>
            <a:ext cx="3502152" cy="2194560"/>
          </a:xfrm>
          <a:prstGeom prst="roundRect">
            <a:avLst>
              <a:gd name="adj" fmla="val 5000"/>
            </a:avLst>
          </a:prstGeom>
          <a:solidFill>
            <a:schemeClr val="bg2"/>
          </a:solidFill>
          <a:ln/>
        </p:spPr>
      </p:sp>
      <p:sp>
        <p:nvSpPr>
          <p:cNvPr id="19" name="Feature 4 circle"/>
          <p:cNvSpPr/>
          <p:nvPr/>
        </p:nvSpPr>
        <p:spPr>
          <a:xfrm>
            <a:off x="822960" y="4114800"/>
            <a:ext cx="640080" cy="640080"/>
          </a:xfrm>
          <a:prstGeom prst="ellipse">
            <a:avLst/>
          </a:prstGeom>
          <a:solidFill>
            <a:schemeClr val="accent1"/>
          </a:solidFill>
          <a:ln/>
        </p:spPr>
      </p:sp>
      <p:pic>
        <p:nvPicPr>
          <p:cNvPr id="20" name="Feature 4 icon" descr="preencoded.png">    </p:cNvPr>
          <p:cNvPicPr>
            <a:picLocks noChangeAspect="1"/>
          </p:cNvPicPr>
          <p:nvPr/>
        </p:nvPicPr>
        <p:blipFill>
          <a:blip r:embed="rId4"/>
          <a:stretch>
            <a:fillRect/>
          </a:stretch>
        </p:blipFill>
        <p:spPr>
          <a:xfrm>
            <a:off x="982980" y="4274820"/>
            <a:ext cx="320040" cy="320040"/>
          </a:xfrm>
          <a:prstGeom prst="rect">
            <a:avLst/>
          </a:prstGeom>
        </p:spPr>
      </p:pic>
      <p:sp>
        <p:nvSpPr>
          <p:cNvPr id="21" name="Text 15"/>
          <p:cNvSpPr txBox="1"/>
          <p:nvPr/>
        </p:nvSpPr>
        <p:spPr>
          <a:xfrm>
            <a:off x="1600200" y="4114800"/>
            <a:ext cx="2267712" cy="640080"/>
          </a:xfrm>
          <a:prstGeom prst="rect">
            <a:avLst/>
          </a:prstGeom>
          <a:noFill/>
          <a:ln/>
        </p:spPr>
        <p:txBody>
          <a:bodyPr wrap="square" lIns="0" tIns="0" rIns="0" bIns="0" rtlCol="0" anchor="ctr"/>
          <a:lstStyle/>
          <a:p>
            <a:pPr indent="0" marL="0">
              <a:buNone/>
            </a:pPr>
            <a:r>
              <a:rPr lang="en-US" sz="1800" b="1" dirty="0">
                <a:solidFill>
                  <a:schemeClr val="tx1"/>
                </a:solidFill>
              </a:rPr>
              <a:t>My bookings</a:t>
            </a:r>
            <a:endParaRPr lang="en-US" sz="1800" dirty="0"/>
          </a:p>
        </p:txBody>
      </p:sp>
      <p:sp>
        <p:nvSpPr>
          <p:cNvPr id="22" name="Text 16"/>
          <p:cNvSpPr txBox="1"/>
          <p:nvPr/>
        </p:nvSpPr>
        <p:spPr>
          <a:xfrm>
            <a:off x="822960" y="4892040"/>
            <a:ext cx="2953512" cy="1005840"/>
          </a:xfrm>
          <a:prstGeom prst="rect">
            <a:avLst/>
          </a:prstGeom>
          <a:noFill/>
          <a:ln/>
        </p:spPr>
        <p:txBody>
          <a:bodyPr wrap="square" lIns="0" tIns="0" rIns="0" bIns="0" rtlCol="0" anchor="t"/>
          <a:lstStyle/>
          <a:p>
            <a:pPr indent="0" marL="0">
              <a:buNone/>
            </a:pPr>
            <a:r>
              <a:rPr lang="en-US" sz="1400" dirty="0">
                <a:solidFill>
                  <a:schemeClr val="tx2"/>
                </a:solidFill>
              </a:rPr>
              <a:t>Upcoming, past and cancelled tabs, with confirmed cancellation</a:t>
            </a:r>
            <a:endParaRPr lang="en-US" sz="1400" dirty="0"/>
          </a:p>
        </p:txBody>
      </p:sp>
      <p:sp>
        <p:nvSpPr>
          <p:cNvPr id="23" name="Feature 5"/>
          <p:cNvSpPr/>
          <p:nvPr/>
        </p:nvSpPr>
        <p:spPr>
          <a:xfrm>
            <a:off x="4325112" y="3840480"/>
            <a:ext cx="3502152" cy="2194560"/>
          </a:xfrm>
          <a:prstGeom prst="roundRect">
            <a:avLst>
              <a:gd name="adj" fmla="val 5000"/>
            </a:avLst>
          </a:prstGeom>
          <a:solidFill>
            <a:schemeClr val="bg2"/>
          </a:solidFill>
          <a:ln/>
        </p:spPr>
      </p:sp>
      <p:sp>
        <p:nvSpPr>
          <p:cNvPr id="24" name="Feature 5 circle"/>
          <p:cNvSpPr/>
          <p:nvPr/>
        </p:nvSpPr>
        <p:spPr>
          <a:xfrm>
            <a:off x="4599432" y="4114800"/>
            <a:ext cx="640080" cy="640080"/>
          </a:xfrm>
          <a:prstGeom prst="ellipse">
            <a:avLst/>
          </a:prstGeom>
          <a:solidFill>
            <a:schemeClr val="accent1"/>
          </a:solidFill>
          <a:ln/>
        </p:spPr>
      </p:sp>
      <p:pic>
        <p:nvPicPr>
          <p:cNvPr id="25" name="Feature 5 icon" descr="preencoded.png">    </p:cNvPr>
          <p:cNvPicPr>
            <a:picLocks noChangeAspect="1"/>
          </p:cNvPicPr>
          <p:nvPr/>
        </p:nvPicPr>
        <p:blipFill>
          <a:blip r:embed="rId5"/>
          <a:stretch>
            <a:fillRect/>
          </a:stretch>
        </p:blipFill>
        <p:spPr>
          <a:xfrm>
            <a:off x="4759452" y="4274820"/>
            <a:ext cx="320040" cy="320040"/>
          </a:xfrm>
          <a:prstGeom prst="rect">
            <a:avLst/>
          </a:prstGeom>
        </p:spPr>
      </p:pic>
      <p:sp>
        <p:nvSpPr>
          <p:cNvPr id="26" name="Text 19"/>
          <p:cNvSpPr txBox="1"/>
          <p:nvPr/>
        </p:nvSpPr>
        <p:spPr>
          <a:xfrm>
            <a:off x="5376672" y="4114800"/>
            <a:ext cx="2267712" cy="640080"/>
          </a:xfrm>
          <a:prstGeom prst="rect">
            <a:avLst/>
          </a:prstGeom>
          <a:noFill/>
          <a:ln/>
        </p:spPr>
        <p:txBody>
          <a:bodyPr wrap="square" lIns="0" tIns="0" rIns="0" bIns="0" rtlCol="0" anchor="ctr"/>
          <a:lstStyle/>
          <a:p>
            <a:pPr indent="0" marL="0">
              <a:buNone/>
            </a:pPr>
            <a:r>
              <a:rPr lang="en-US" sz="1800" b="1" dirty="0">
                <a:solidFill>
                  <a:schemeClr val="tx1"/>
                </a:solidFill>
              </a:rPr>
              <a:t>Admin dashboard</a:t>
            </a:r>
            <a:endParaRPr lang="en-US" sz="1800" dirty="0"/>
          </a:p>
        </p:txBody>
      </p:sp>
      <p:sp>
        <p:nvSpPr>
          <p:cNvPr id="27" name="Text 20"/>
          <p:cNvSpPr txBox="1"/>
          <p:nvPr/>
        </p:nvSpPr>
        <p:spPr>
          <a:xfrm>
            <a:off x="4599432" y="4892040"/>
            <a:ext cx="2953512" cy="1005840"/>
          </a:xfrm>
          <a:prstGeom prst="rect">
            <a:avLst/>
          </a:prstGeom>
          <a:noFill/>
          <a:ln/>
        </p:spPr>
        <p:txBody>
          <a:bodyPr wrap="square" lIns="0" tIns="0" rIns="0" bIns="0" rtlCol="0" anchor="t"/>
          <a:lstStyle/>
          <a:p>
            <a:pPr indent="0" marL="0">
              <a:buNone/>
            </a:pPr>
            <a:r>
              <a:rPr lang="en-US" sz="1400" dirty="0">
                <a:solidFill>
                  <a:schemeClr val="tx2"/>
                </a:solidFill>
              </a:rPr>
              <a:t>Statistics, create / edit / delete classes, view and remove attendees</a:t>
            </a:r>
            <a:endParaRPr lang="en-US" sz="1400" dirty="0"/>
          </a:p>
        </p:txBody>
      </p:sp>
      <p:sp>
        <p:nvSpPr>
          <p:cNvPr id="28" name="Feature 6"/>
          <p:cNvSpPr/>
          <p:nvPr/>
        </p:nvSpPr>
        <p:spPr>
          <a:xfrm>
            <a:off x="8101584" y="3840480"/>
            <a:ext cx="3502152" cy="2194560"/>
          </a:xfrm>
          <a:prstGeom prst="roundRect">
            <a:avLst>
              <a:gd name="adj" fmla="val 5000"/>
            </a:avLst>
          </a:prstGeom>
          <a:solidFill>
            <a:schemeClr val="bg2"/>
          </a:solidFill>
          <a:ln/>
        </p:spPr>
      </p:sp>
      <p:sp>
        <p:nvSpPr>
          <p:cNvPr id="29" name="Feature 6 circle"/>
          <p:cNvSpPr/>
          <p:nvPr/>
        </p:nvSpPr>
        <p:spPr>
          <a:xfrm>
            <a:off x="8375904" y="4114800"/>
            <a:ext cx="640080" cy="640080"/>
          </a:xfrm>
          <a:prstGeom prst="ellipse">
            <a:avLst/>
          </a:prstGeom>
          <a:solidFill>
            <a:schemeClr val="accent1"/>
          </a:solidFill>
          <a:ln/>
        </p:spPr>
      </p:sp>
      <p:pic>
        <p:nvPicPr>
          <p:cNvPr id="30" name="Feature 6 icon" descr="preencoded.png">    </p:cNvPr>
          <p:cNvPicPr>
            <a:picLocks noChangeAspect="1"/>
          </p:cNvPicPr>
          <p:nvPr/>
        </p:nvPicPr>
        <p:blipFill>
          <a:blip r:embed="rId6"/>
          <a:stretch>
            <a:fillRect/>
          </a:stretch>
        </p:blipFill>
        <p:spPr>
          <a:xfrm>
            <a:off x="8535924" y="4274820"/>
            <a:ext cx="320040" cy="320040"/>
          </a:xfrm>
          <a:prstGeom prst="rect">
            <a:avLst/>
          </a:prstGeom>
        </p:spPr>
      </p:pic>
      <p:sp>
        <p:nvSpPr>
          <p:cNvPr id="31" name="Text 23"/>
          <p:cNvSpPr txBox="1"/>
          <p:nvPr/>
        </p:nvSpPr>
        <p:spPr>
          <a:xfrm>
            <a:off x="9153144" y="4114800"/>
            <a:ext cx="2267712" cy="640080"/>
          </a:xfrm>
          <a:prstGeom prst="rect">
            <a:avLst/>
          </a:prstGeom>
          <a:noFill/>
          <a:ln/>
        </p:spPr>
        <p:txBody>
          <a:bodyPr wrap="square" lIns="0" tIns="0" rIns="0" bIns="0" rtlCol="0" anchor="ctr"/>
          <a:lstStyle/>
          <a:p>
            <a:pPr indent="0" marL="0">
              <a:buNone/>
            </a:pPr>
            <a:r>
              <a:rPr lang="en-US" sz="1800" b="1" dirty="0">
                <a:solidFill>
                  <a:schemeClr val="tx1"/>
                </a:solidFill>
              </a:rPr>
              <a:t>Secure accounts</a:t>
            </a:r>
            <a:endParaRPr lang="en-US" sz="1800" dirty="0"/>
          </a:p>
        </p:txBody>
      </p:sp>
      <p:sp>
        <p:nvSpPr>
          <p:cNvPr id="32" name="Text 24"/>
          <p:cNvSpPr txBox="1"/>
          <p:nvPr/>
        </p:nvSpPr>
        <p:spPr>
          <a:xfrm>
            <a:off x="8375904" y="4892040"/>
            <a:ext cx="2953512" cy="1005840"/>
          </a:xfrm>
          <a:prstGeom prst="rect">
            <a:avLst/>
          </a:prstGeom>
          <a:noFill/>
          <a:ln/>
        </p:spPr>
        <p:txBody>
          <a:bodyPr wrap="square" lIns="0" tIns="0" rIns="0" bIns="0" rtlCol="0" anchor="t"/>
          <a:lstStyle/>
          <a:p>
            <a:pPr indent="0" marL="0">
              <a:buNone/>
            </a:pPr>
            <a:r>
              <a:rPr lang="en-US" sz="1400" dirty="0">
                <a:solidFill>
                  <a:schemeClr val="tx2"/>
                </a:solidFill>
              </a:rPr>
              <a:t>Registration and login with hashed passwords and JWT sessions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7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 full JavaScript stack: React, Node.js and MongoDB</a:t>
            </a:r>
            <a:endParaRPr lang="en-US" sz="3000" dirty="0"/>
          </a:p>
        </p:txBody>
      </p:sp>
      <p:sp>
        <p:nvSpPr>
          <p:cNvPr id="3" name="Stack Frontend (UI)"/>
          <p:cNvSpPr/>
          <p:nvPr/>
        </p:nvSpPr>
        <p:spPr>
          <a:xfrm>
            <a:off x="548640" y="1371600"/>
            <a:ext cx="3502152" cy="4663440"/>
          </a:xfrm>
          <a:prstGeom prst="roundRect">
            <a:avLst>
              <a:gd name="adj" fmla="val 3133"/>
            </a:avLst>
          </a:prstGeom>
          <a:solidFill>
            <a:schemeClr val="bg2"/>
          </a:solidFill>
          <a:ln/>
        </p:spPr>
      </p:sp>
      <p:sp>
        <p:nvSpPr>
          <p:cNvPr id="4" name="Stack Frontend (UI) circle"/>
          <p:cNvSpPr/>
          <p:nvPr/>
        </p:nvSpPr>
        <p:spPr>
          <a:xfrm>
            <a:off x="1888236" y="1645920"/>
            <a:ext cx="822960" cy="822960"/>
          </a:xfrm>
          <a:prstGeom prst="ellipse">
            <a:avLst/>
          </a:prstGeom>
          <a:solidFill>
            <a:schemeClr val="accent1"/>
          </a:solidFill>
          <a:ln/>
        </p:spPr>
      </p:sp>
      <p:pic>
        <p:nvPicPr>
          <p:cNvPr id="5" name="Stack Frontend (UI) icon" descr="preencoded.png">    </p:cNvPr>
          <p:cNvPicPr>
            <a:picLocks noChangeAspect="1"/>
          </p:cNvPicPr>
          <p:nvPr/>
        </p:nvPicPr>
        <p:blipFill>
          <a:blip r:embed="rId1"/>
          <a:stretch>
            <a:fillRect/>
          </a:stretch>
        </p:blipFill>
        <p:spPr>
          <a:xfrm>
            <a:off x="2093976" y="1851660"/>
            <a:ext cx="411480" cy="411480"/>
          </a:xfrm>
          <a:prstGeom prst="rect">
            <a:avLst/>
          </a:prstGeom>
        </p:spPr>
      </p:pic>
      <p:sp>
        <p:nvSpPr>
          <p:cNvPr id="6" name="Text 3"/>
          <p:cNvSpPr txBox="1"/>
          <p:nvPr/>
        </p:nvSpPr>
        <p:spPr>
          <a:xfrm>
            <a:off x="731520" y="2606040"/>
            <a:ext cx="3136392" cy="457200"/>
          </a:xfrm>
          <a:prstGeom prst="rect">
            <a:avLst/>
          </a:prstGeom>
          <a:noFill/>
          <a:ln/>
        </p:spPr>
        <p:txBody>
          <a:bodyPr wrap="square" lIns="0" tIns="0" rIns="0" bIns="0" rtlCol="0" anchor="t"/>
          <a:lstStyle/>
          <a:p>
            <a:pPr algn="ctr" indent="0" marL="0">
              <a:buNone/>
            </a:pPr>
            <a:r>
              <a:rPr lang="en-US" sz="2000" b="1" dirty="0">
                <a:solidFill>
                  <a:schemeClr val="tx1"/>
                </a:solidFill>
                <a:latin typeface="Cambria" pitchFamily="34" charset="0"/>
                <a:ea typeface="Cambria" pitchFamily="34" charset="-122"/>
                <a:cs typeface="Cambria" pitchFamily="34" charset="-120"/>
              </a:rPr>
              <a:t>Frontend (UI)</a:t>
            </a:r>
            <a:endParaRPr lang="en-US" sz="2000" dirty="0"/>
          </a:p>
        </p:txBody>
      </p:sp>
      <p:sp>
        <p:nvSpPr>
          <p:cNvPr id="7" name="Text 4"/>
          <p:cNvSpPr txBox="1"/>
          <p:nvPr/>
        </p:nvSpPr>
        <p:spPr>
          <a:xfrm>
            <a:off x="868680" y="3246120"/>
            <a:ext cx="2953512" cy="265176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chemeClr val="tx1"/>
                </a:solidFill>
              </a:rPr>
              <a:t>HTML5 and CSS3 (Grid, Flexbox, media queries)</a:t>
            </a:r>
            <a:endParaRPr lang="en-US" sz="1400" dirty="0"/>
          </a:p>
          <a:p>
            <a:pPr marL="190500" indent="-190500">
              <a:spcAft>
                <a:spcPts val="600"/>
              </a:spcAft>
              <a:buSzPct val="100000"/>
              <a:buChar char="•"/>
            </a:pPr>
            <a:r>
              <a:rPr lang="en-US" sz="1500" dirty="0">
                <a:solidFill>
                  <a:schemeClr val="tx1"/>
                </a:solidFill>
              </a:rPr>
              <a:t>JavaScript (ES6+)</a:t>
            </a:r>
            <a:endParaRPr lang="en-US" sz="1400" dirty="0"/>
          </a:p>
          <a:p>
            <a:pPr marL="190500" indent="-190500">
              <a:spcAft>
                <a:spcPts val="600"/>
              </a:spcAft>
              <a:buSzPct val="100000"/>
              <a:buChar char="•"/>
            </a:pPr>
            <a:r>
              <a:rPr lang="en-US" sz="1500" dirty="0">
                <a:solidFill>
                  <a:schemeClr val="tx1"/>
                </a:solidFill>
              </a:rPr>
              <a:t>React 18 with Vite</a:t>
            </a:r>
            <a:endParaRPr lang="en-US" sz="1400" dirty="0"/>
          </a:p>
          <a:p>
            <a:pPr marL="190500" indent="-190500">
              <a:spcAft>
                <a:spcPts val="600"/>
              </a:spcAft>
              <a:buSzPct val="100000"/>
              <a:buChar char="•"/>
            </a:pPr>
            <a:r>
              <a:rPr lang="en-US" sz="1500" dirty="0">
                <a:solidFill>
                  <a:schemeClr val="tx1"/>
                </a:solidFill>
              </a:rPr>
              <a:t>React Router 6 – protected routes</a:t>
            </a:r>
            <a:endParaRPr lang="en-US" sz="1400" dirty="0"/>
          </a:p>
          <a:p>
            <a:pPr marL="190500" indent="-190500">
              <a:spcAft>
                <a:spcPts val="600"/>
              </a:spcAft>
              <a:buSzPct val="100000"/>
              <a:buChar char="•"/>
            </a:pPr>
            <a:r>
              <a:rPr lang="en-US" sz="1500" dirty="0">
                <a:solidFill>
                  <a:schemeClr val="tx1"/>
                </a:solidFill>
              </a:rPr>
              <a:t>Context API and custom hooks</a:t>
            </a:r>
            <a:endParaRPr lang="en-US" sz="1400" dirty="0"/>
          </a:p>
        </p:txBody>
      </p:sp>
      <p:sp>
        <p:nvSpPr>
          <p:cNvPr id="8" name="Stack Backend (Server)"/>
          <p:cNvSpPr/>
          <p:nvPr/>
        </p:nvSpPr>
        <p:spPr>
          <a:xfrm>
            <a:off x="4325112" y="1371600"/>
            <a:ext cx="3502152" cy="4663440"/>
          </a:xfrm>
          <a:prstGeom prst="roundRect">
            <a:avLst>
              <a:gd name="adj" fmla="val 3133"/>
            </a:avLst>
          </a:prstGeom>
          <a:solidFill>
            <a:schemeClr val="bg2"/>
          </a:solidFill>
          <a:ln/>
        </p:spPr>
      </p:sp>
      <p:sp>
        <p:nvSpPr>
          <p:cNvPr id="9" name="Stack Backend (Server) circle"/>
          <p:cNvSpPr/>
          <p:nvPr/>
        </p:nvSpPr>
        <p:spPr>
          <a:xfrm>
            <a:off x="5664708" y="1645920"/>
            <a:ext cx="822960" cy="822960"/>
          </a:xfrm>
          <a:prstGeom prst="ellipse">
            <a:avLst/>
          </a:prstGeom>
          <a:solidFill>
            <a:schemeClr val="accent1"/>
          </a:solidFill>
          <a:ln/>
        </p:spPr>
      </p:sp>
      <p:pic>
        <p:nvPicPr>
          <p:cNvPr id="10" name="Stack Backend (Server) icon" descr="preencoded.png">    </p:cNvPr>
          <p:cNvPicPr>
            <a:picLocks noChangeAspect="1"/>
          </p:cNvPicPr>
          <p:nvPr/>
        </p:nvPicPr>
        <p:blipFill>
          <a:blip r:embed="rId2"/>
          <a:stretch>
            <a:fillRect/>
          </a:stretch>
        </p:blipFill>
        <p:spPr>
          <a:xfrm>
            <a:off x="5870448" y="1851660"/>
            <a:ext cx="411480" cy="411480"/>
          </a:xfrm>
          <a:prstGeom prst="rect">
            <a:avLst/>
          </a:prstGeom>
        </p:spPr>
      </p:pic>
      <p:sp>
        <p:nvSpPr>
          <p:cNvPr id="11" name="Text 7"/>
          <p:cNvSpPr txBox="1"/>
          <p:nvPr/>
        </p:nvSpPr>
        <p:spPr>
          <a:xfrm>
            <a:off x="4507992" y="2606040"/>
            <a:ext cx="3136392" cy="457200"/>
          </a:xfrm>
          <a:prstGeom prst="rect">
            <a:avLst/>
          </a:prstGeom>
          <a:noFill/>
          <a:ln/>
        </p:spPr>
        <p:txBody>
          <a:bodyPr wrap="square" lIns="0" tIns="0" rIns="0" bIns="0" rtlCol="0" anchor="t"/>
          <a:lstStyle/>
          <a:p>
            <a:pPr algn="ctr" indent="0" marL="0">
              <a:buNone/>
            </a:pPr>
            <a:r>
              <a:rPr lang="en-US" sz="2000" b="1" dirty="0">
                <a:solidFill>
                  <a:schemeClr val="tx1"/>
                </a:solidFill>
                <a:latin typeface="Cambria" pitchFamily="34" charset="0"/>
                <a:ea typeface="Cambria" pitchFamily="34" charset="-122"/>
                <a:cs typeface="Cambria" pitchFamily="34" charset="-120"/>
              </a:rPr>
              <a:t>Backend (Server)</a:t>
            </a:r>
            <a:endParaRPr lang="en-US" sz="2000" dirty="0"/>
          </a:p>
        </p:txBody>
      </p:sp>
      <p:sp>
        <p:nvSpPr>
          <p:cNvPr id="12" name="Text 8"/>
          <p:cNvSpPr txBox="1"/>
          <p:nvPr/>
        </p:nvSpPr>
        <p:spPr>
          <a:xfrm>
            <a:off x="4645152" y="3246120"/>
            <a:ext cx="2953512" cy="265176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chemeClr val="tx1"/>
                </a:solidFill>
              </a:rPr>
              <a:t>Node.js 24 runtime</a:t>
            </a:r>
            <a:endParaRPr lang="en-US" sz="1400" dirty="0"/>
          </a:p>
          <a:p>
            <a:pPr marL="190500" indent="-190500">
              <a:spcAft>
                <a:spcPts val="600"/>
              </a:spcAft>
              <a:buSzPct val="100000"/>
              <a:buChar char="•"/>
            </a:pPr>
            <a:r>
              <a:rPr lang="en-US" sz="1500" dirty="0">
                <a:solidFill>
                  <a:schemeClr val="tx1"/>
                </a:solidFill>
              </a:rPr>
              <a:t>Express.js 4 REST API</a:t>
            </a:r>
            <a:endParaRPr lang="en-US" sz="1400" dirty="0"/>
          </a:p>
          <a:p>
            <a:pPr marL="190500" indent="-190500">
              <a:spcAft>
                <a:spcPts val="600"/>
              </a:spcAft>
              <a:buSzPct val="100000"/>
              <a:buChar char="•"/>
            </a:pPr>
            <a:r>
              <a:rPr lang="en-US" sz="1500" dirty="0">
                <a:solidFill>
                  <a:schemeClr val="tx1"/>
                </a:solidFill>
              </a:rPr>
              <a:t>JSON Web Token (JWT) auth</a:t>
            </a:r>
            <a:endParaRPr lang="en-US" sz="1400" dirty="0"/>
          </a:p>
          <a:p>
            <a:pPr marL="190500" indent="-190500">
              <a:spcAft>
                <a:spcPts val="600"/>
              </a:spcAft>
              <a:buSzPct val="100000"/>
              <a:buChar char="•"/>
            </a:pPr>
            <a:r>
              <a:rPr lang="en-US" sz="1500" dirty="0">
                <a:solidFill>
                  <a:schemeClr val="tx1"/>
                </a:solidFill>
              </a:rPr>
              <a:t>bcrypt.js password hashing</a:t>
            </a:r>
            <a:endParaRPr lang="en-US" sz="1400" dirty="0"/>
          </a:p>
          <a:p>
            <a:pPr marL="190500" indent="-190500">
              <a:spcAft>
                <a:spcPts val="600"/>
              </a:spcAft>
              <a:buSzPct val="100000"/>
              <a:buChar char="•"/>
            </a:pPr>
            <a:r>
              <a:rPr lang="en-US" sz="1500" dirty="0">
                <a:solidFill>
                  <a:schemeClr val="tx1"/>
                </a:solidFill>
              </a:rPr>
              <a:t>CORS and .env configuration</a:t>
            </a:r>
            <a:endParaRPr lang="en-US" sz="1400" dirty="0"/>
          </a:p>
        </p:txBody>
      </p:sp>
      <p:sp>
        <p:nvSpPr>
          <p:cNvPr id="13" name="Stack Database"/>
          <p:cNvSpPr/>
          <p:nvPr/>
        </p:nvSpPr>
        <p:spPr>
          <a:xfrm>
            <a:off x="8101584" y="1371600"/>
            <a:ext cx="3502152" cy="4663440"/>
          </a:xfrm>
          <a:prstGeom prst="roundRect">
            <a:avLst>
              <a:gd name="adj" fmla="val 3133"/>
            </a:avLst>
          </a:prstGeom>
          <a:solidFill>
            <a:schemeClr val="bg2"/>
          </a:solidFill>
          <a:ln/>
        </p:spPr>
      </p:sp>
      <p:sp>
        <p:nvSpPr>
          <p:cNvPr id="14" name="Stack Database circle"/>
          <p:cNvSpPr/>
          <p:nvPr/>
        </p:nvSpPr>
        <p:spPr>
          <a:xfrm>
            <a:off x="9441180" y="1645920"/>
            <a:ext cx="822960" cy="822960"/>
          </a:xfrm>
          <a:prstGeom prst="ellipse">
            <a:avLst/>
          </a:prstGeom>
          <a:solidFill>
            <a:schemeClr val="accent1"/>
          </a:solidFill>
          <a:ln/>
        </p:spPr>
      </p:sp>
      <p:pic>
        <p:nvPicPr>
          <p:cNvPr id="15" name="Stack Database icon" descr="preencoded.png">    </p:cNvPr>
          <p:cNvPicPr>
            <a:picLocks noChangeAspect="1"/>
          </p:cNvPicPr>
          <p:nvPr/>
        </p:nvPicPr>
        <p:blipFill>
          <a:blip r:embed="rId3"/>
          <a:stretch>
            <a:fillRect/>
          </a:stretch>
        </p:blipFill>
        <p:spPr>
          <a:xfrm>
            <a:off x="9646920" y="1851660"/>
            <a:ext cx="411480" cy="411480"/>
          </a:xfrm>
          <a:prstGeom prst="rect">
            <a:avLst/>
          </a:prstGeom>
        </p:spPr>
      </p:pic>
      <p:sp>
        <p:nvSpPr>
          <p:cNvPr id="16" name="Text 11"/>
          <p:cNvSpPr txBox="1"/>
          <p:nvPr/>
        </p:nvSpPr>
        <p:spPr>
          <a:xfrm>
            <a:off x="8284464" y="2606040"/>
            <a:ext cx="3136392" cy="457200"/>
          </a:xfrm>
          <a:prstGeom prst="rect">
            <a:avLst/>
          </a:prstGeom>
          <a:noFill/>
          <a:ln/>
        </p:spPr>
        <p:txBody>
          <a:bodyPr wrap="square" lIns="0" tIns="0" rIns="0" bIns="0" rtlCol="0" anchor="t"/>
          <a:lstStyle/>
          <a:p>
            <a:pPr algn="ctr" indent="0" marL="0">
              <a:buNone/>
            </a:pPr>
            <a:r>
              <a:rPr lang="en-US" sz="2000" b="1" dirty="0">
                <a:solidFill>
                  <a:schemeClr val="tx1"/>
                </a:solidFill>
                <a:latin typeface="Cambria" pitchFamily="34" charset="0"/>
                <a:ea typeface="Cambria" pitchFamily="34" charset="-122"/>
                <a:cs typeface="Cambria" pitchFamily="34" charset="-120"/>
              </a:rPr>
              <a:t>Database</a:t>
            </a:r>
            <a:endParaRPr lang="en-US" sz="2000" dirty="0"/>
          </a:p>
        </p:txBody>
      </p:sp>
      <p:sp>
        <p:nvSpPr>
          <p:cNvPr id="17" name="Text 12"/>
          <p:cNvSpPr txBox="1"/>
          <p:nvPr/>
        </p:nvSpPr>
        <p:spPr>
          <a:xfrm>
            <a:off x="8421624" y="3246120"/>
            <a:ext cx="2953512" cy="265176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chemeClr val="tx1"/>
                </a:solidFill>
              </a:rPr>
              <a:t>MongoDB Atlas (cloud cluster)</a:t>
            </a:r>
            <a:endParaRPr lang="en-US" sz="1400" dirty="0"/>
          </a:p>
          <a:p>
            <a:pPr marL="190500" indent="-190500">
              <a:spcAft>
                <a:spcPts val="600"/>
              </a:spcAft>
              <a:buSzPct val="100000"/>
              <a:buChar char="•"/>
            </a:pPr>
            <a:r>
              <a:rPr lang="en-US" sz="1500" dirty="0">
                <a:solidFill>
                  <a:schemeClr val="tx1"/>
                </a:solidFill>
              </a:rPr>
              <a:t>Mongoose 8 ODM with schemas</a:t>
            </a:r>
            <a:endParaRPr lang="en-US" sz="1400" dirty="0"/>
          </a:p>
          <a:p>
            <a:pPr marL="190500" indent="-190500">
              <a:spcAft>
                <a:spcPts val="600"/>
              </a:spcAft>
              <a:buSzPct val="100000"/>
              <a:buChar char="•"/>
            </a:pPr>
            <a:r>
              <a:rPr lang="en-US" sz="1500" dirty="0">
                <a:solidFill>
                  <a:schemeClr val="tx1"/>
                </a:solidFill>
              </a:rPr>
              <a:t>Collections: users, yogaclasses, bookings</a:t>
            </a:r>
            <a:endParaRPr lang="en-US" sz="1400" dirty="0"/>
          </a:p>
          <a:p>
            <a:pPr marL="190500" indent="-190500">
              <a:spcAft>
                <a:spcPts val="600"/>
              </a:spcAft>
              <a:buSzPct val="100000"/>
              <a:buChar char="•"/>
            </a:pPr>
            <a:r>
              <a:rPr lang="en-US" sz="1500" dirty="0">
                <a:solidFill>
                  <a:schemeClr val="tx1"/>
                </a:solidFill>
              </a:rPr>
              <a:t>Unique and compound indexes</a:t>
            </a:r>
            <a:endParaRPr lang="en-US" sz="1400" dirty="0"/>
          </a:p>
          <a:p>
            <a:pPr marL="190500" indent="-190500">
              <a:spcAft>
                <a:spcPts val="600"/>
              </a:spcAft>
              <a:buSzPct val="100000"/>
              <a:buChar char="•"/>
            </a:pPr>
            <a:r>
              <a:rPr lang="en-US" sz="1500" dirty="0">
                <a:solidFill>
                  <a:schemeClr val="tx1"/>
                </a:solidFill>
              </a:rPr>
              <a:t>Aggregation for seat counts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7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Three tiers communicate through a JSON REST API</a:t>
            </a:r>
            <a:endParaRPr lang="en-US" sz="3000" dirty="0"/>
          </a:p>
        </p:txBody>
      </p:sp>
      <p:sp>
        <p:nvSpPr>
          <p:cNvPr id="3" name="Tier 1"/>
          <p:cNvSpPr/>
          <p:nvPr/>
        </p:nvSpPr>
        <p:spPr>
          <a:xfrm>
            <a:off x="548640" y="1371600"/>
            <a:ext cx="3246120" cy="3200400"/>
          </a:xfrm>
          <a:prstGeom prst="roundRect">
            <a:avLst>
              <a:gd name="adj" fmla="val 3429"/>
            </a:avLst>
          </a:prstGeom>
          <a:solidFill>
            <a:schemeClr val="bg2"/>
          </a:solidFill>
          <a:ln/>
        </p:spPr>
      </p:sp>
      <p:sp>
        <p:nvSpPr>
          <p:cNvPr id="4" name="Tier 1 circle"/>
          <p:cNvSpPr/>
          <p:nvPr/>
        </p:nvSpPr>
        <p:spPr>
          <a:xfrm>
            <a:off x="777240" y="1554480"/>
            <a:ext cx="594360" cy="594360"/>
          </a:xfrm>
          <a:prstGeom prst="ellipse">
            <a:avLst/>
          </a:prstGeom>
          <a:solidFill>
            <a:schemeClr val="accent1"/>
          </a:solidFill>
          <a:ln/>
        </p:spPr>
      </p:sp>
      <p:pic>
        <p:nvPicPr>
          <p:cNvPr id="5" name="Tier 1 icon" descr="preencoded.png">    </p:cNvPr>
          <p:cNvPicPr>
            <a:picLocks noChangeAspect="1"/>
          </p:cNvPicPr>
          <p:nvPr/>
        </p:nvPicPr>
        <p:blipFill>
          <a:blip r:embed="rId1"/>
          <a:stretch>
            <a:fillRect/>
          </a:stretch>
        </p:blipFill>
        <p:spPr>
          <a:xfrm>
            <a:off x="925830" y="1703070"/>
            <a:ext cx="297180" cy="297180"/>
          </a:xfrm>
          <a:prstGeom prst="rect">
            <a:avLst/>
          </a:prstGeom>
        </p:spPr>
      </p:pic>
      <p:sp>
        <p:nvSpPr>
          <p:cNvPr id="6" name="Text 3"/>
          <p:cNvSpPr txBox="1"/>
          <p:nvPr/>
        </p:nvSpPr>
        <p:spPr>
          <a:xfrm>
            <a:off x="1508760" y="1536192"/>
            <a:ext cx="2148840" cy="365760"/>
          </a:xfrm>
          <a:prstGeom prst="rect">
            <a:avLst/>
          </a:prstGeom>
          <a:noFill/>
          <a:ln/>
        </p:spPr>
        <p:txBody>
          <a:bodyPr wrap="square" lIns="0" tIns="0" rIns="0" bIns="0" rtlCol="0" anchor="t"/>
          <a:lstStyle/>
          <a:p>
            <a:pPr indent="0" marL="0">
              <a:buNone/>
            </a:pPr>
            <a:r>
              <a:rPr lang="en-US" sz="1600" b="1" dirty="0">
                <a:solidFill>
                  <a:schemeClr val="tx1"/>
                </a:solidFill>
              </a:rPr>
              <a:t>React SPA (client)</a:t>
            </a:r>
            <a:endParaRPr lang="en-US" sz="1600" dirty="0"/>
          </a:p>
        </p:txBody>
      </p:sp>
      <p:sp>
        <p:nvSpPr>
          <p:cNvPr id="7" name="Text 4"/>
          <p:cNvSpPr txBox="1"/>
          <p:nvPr/>
        </p:nvSpPr>
        <p:spPr>
          <a:xfrm>
            <a:off x="1508760" y="1883664"/>
            <a:ext cx="2148840" cy="274320"/>
          </a:xfrm>
          <a:prstGeom prst="rect">
            <a:avLst/>
          </a:prstGeom>
          <a:noFill/>
          <a:ln/>
        </p:spPr>
        <p:txBody>
          <a:bodyPr wrap="square" lIns="0" tIns="0" rIns="0" bIns="0" rtlCol="0" anchor="t"/>
          <a:lstStyle/>
          <a:p>
            <a:pPr indent="0" marL="0">
              <a:buNone/>
            </a:pPr>
            <a:r>
              <a:rPr lang="en-US" sz="1200" dirty="0">
                <a:solidFill>
                  <a:schemeClr val="accent5"/>
                </a:solidFill>
              </a:rPr>
              <a:t>Browser · localhost:5173</a:t>
            </a:r>
            <a:endParaRPr lang="en-US" sz="1200" dirty="0"/>
          </a:p>
        </p:txBody>
      </p:sp>
      <p:sp>
        <p:nvSpPr>
          <p:cNvPr id="8" name="Text 5"/>
          <p:cNvSpPr txBox="1"/>
          <p:nvPr/>
        </p:nvSpPr>
        <p:spPr>
          <a:xfrm>
            <a:off x="822960" y="2377440"/>
            <a:ext cx="2788920" cy="210312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Pages: Home, Classes, Details, Login, Register, My Bookings, Admin</a:t>
            </a:r>
            <a:endParaRPr lang="en-US" sz="1400" dirty="0"/>
          </a:p>
          <a:p>
            <a:pPr marL="190500" indent="-190500">
              <a:spcAft>
                <a:spcPts val="600"/>
              </a:spcAft>
              <a:buSzPct val="100000"/>
              <a:buChar char="•"/>
            </a:pPr>
            <a:r>
              <a:rPr lang="en-US" sz="1400" dirty="0">
                <a:solidFill>
                  <a:schemeClr val="tx1"/>
                </a:solidFill>
              </a:rPr>
              <a:t>AuthContext + ToastContext</a:t>
            </a:r>
            <a:endParaRPr lang="en-US" sz="1400" dirty="0"/>
          </a:p>
          <a:p>
            <a:pPr marL="190500" indent="-190500">
              <a:spcAft>
                <a:spcPts val="600"/>
              </a:spcAft>
              <a:buSzPct val="100000"/>
              <a:buChar char="•"/>
            </a:pPr>
            <a:r>
              <a:rPr lang="en-US" sz="1400" dirty="0">
                <a:solidFill>
                  <a:schemeClr val="tx1"/>
                </a:solidFill>
              </a:rPr>
              <a:t>Fetch API with JWT header</a:t>
            </a:r>
            <a:endParaRPr lang="en-US" sz="1400" dirty="0"/>
          </a:p>
        </p:txBody>
      </p:sp>
      <p:sp>
        <p:nvSpPr>
          <p:cNvPr id="9" name="Link 1"/>
          <p:cNvSpPr/>
          <p:nvPr/>
        </p:nvSpPr>
        <p:spPr>
          <a:xfrm>
            <a:off x="3867912" y="2971800"/>
            <a:ext cx="630936" cy="0"/>
          </a:xfrm>
          <a:prstGeom prst="line">
            <a:avLst/>
          </a:prstGeom>
          <a:noFill/>
          <a:ln w="31750">
            <a:solidFill>
              <a:srgbClr val="D9A66B"/>
            </a:solidFill>
            <a:prstDash val="solid"/>
            <a:headEnd type="triangle"/>
            <a:tailEnd type="triangle"/>
          </a:ln>
        </p:spPr>
      </p:sp>
      <p:sp>
        <p:nvSpPr>
          <p:cNvPr id="10" name="Text 7"/>
          <p:cNvSpPr txBox="1"/>
          <p:nvPr/>
        </p:nvSpPr>
        <p:spPr>
          <a:xfrm>
            <a:off x="3730752" y="2514600"/>
            <a:ext cx="905256" cy="365760"/>
          </a:xfrm>
          <a:prstGeom prst="rect">
            <a:avLst/>
          </a:prstGeom>
          <a:noFill/>
          <a:ln/>
        </p:spPr>
        <p:txBody>
          <a:bodyPr wrap="square" lIns="0" tIns="0" rIns="0" bIns="0" rtlCol="0" anchor="t"/>
          <a:lstStyle/>
          <a:p>
            <a:pPr algn="ctr" indent="0" marL="0">
              <a:buNone/>
            </a:pPr>
            <a:r>
              <a:rPr lang="en-US" sz="1100" b="1" dirty="0">
                <a:solidFill>
                  <a:schemeClr val="accent2"/>
                </a:solidFill>
              </a:rPr>
              <a:t>HTTP + JSON</a:t>
            </a:r>
            <a:endParaRPr lang="en-US" sz="1100" dirty="0"/>
          </a:p>
        </p:txBody>
      </p:sp>
      <p:sp>
        <p:nvSpPr>
          <p:cNvPr id="11" name="Tier 2"/>
          <p:cNvSpPr/>
          <p:nvPr/>
        </p:nvSpPr>
        <p:spPr>
          <a:xfrm>
            <a:off x="4572000" y="1371600"/>
            <a:ext cx="3246120" cy="3200400"/>
          </a:xfrm>
          <a:prstGeom prst="roundRect">
            <a:avLst>
              <a:gd name="adj" fmla="val 3429"/>
            </a:avLst>
          </a:prstGeom>
          <a:solidFill>
            <a:schemeClr val="bg2"/>
          </a:solidFill>
          <a:ln/>
        </p:spPr>
      </p:sp>
      <p:sp>
        <p:nvSpPr>
          <p:cNvPr id="12" name="Tier 2 circle"/>
          <p:cNvSpPr/>
          <p:nvPr/>
        </p:nvSpPr>
        <p:spPr>
          <a:xfrm>
            <a:off x="4800600" y="1554480"/>
            <a:ext cx="594360" cy="594360"/>
          </a:xfrm>
          <a:prstGeom prst="ellipse">
            <a:avLst/>
          </a:prstGeom>
          <a:solidFill>
            <a:schemeClr val="accent1"/>
          </a:solidFill>
          <a:ln/>
        </p:spPr>
      </p:sp>
      <p:pic>
        <p:nvPicPr>
          <p:cNvPr id="13" name="Tier 2 icon" descr="preencoded.png">    </p:cNvPr>
          <p:cNvPicPr>
            <a:picLocks noChangeAspect="1"/>
          </p:cNvPicPr>
          <p:nvPr/>
        </p:nvPicPr>
        <p:blipFill>
          <a:blip r:embed="rId2"/>
          <a:stretch>
            <a:fillRect/>
          </a:stretch>
        </p:blipFill>
        <p:spPr>
          <a:xfrm>
            <a:off x="4949190" y="1703070"/>
            <a:ext cx="297180" cy="297180"/>
          </a:xfrm>
          <a:prstGeom prst="rect">
            <a:avLst/>
          </a:prstGeom>
        </p:spPr>
      </p:pic>
      <p:sp>
        <p:nvSpPr>
          <p:cNvPr id="14" name="Text 10"/>
          <p:cNvSpPr txBox="1"/>
          <p:nvPr/>
        </p:nvSpPr>
        <p:spPr>
          <a:xfrm>
            <a:off x="5532120" y="1536192"/>
            <a:ext cx="2148840" cy="365760"/>
          </a:xfrm>
          <a:prstGeom prst="rect">
            <a:avLst/>
          </a:prstGeom>
          <a:noFill/>
          <a:ln/>
        </p:spPr>
        <p:txBody>
          <a:bodyPr wrap="square" lIns="0" tIns="0" rIns="0" bIns="0" rtlCol="0" anchor="t"/>
          <a:lstStyle/>
          <a:p>
            <a:pPr indent="0" marL="0">
              <a:buNone/>
            </a:pPr>
            <a:r>
              <a:rPr lang="en-US" sz="1600" b="1" dirty="0">
                <a:solidFill>
                  <a:schemeClr val="tx1"/>
                </a:solidFill>
              </a:rPr>
              <a:t>Express API (server)</a:t>
            </a:r>
            <a:endParaRPr lang="en-US" sz="1600" dirty="0"/>
          </a:p>
        </p:txBody>
      </p:sp>
      <p:sp>
        <p:nvSpPr>
          <p:cNvPr id="15" name="Text 11"/>
          <p:cNvSpPr txBox="1"/>
          <p:nvPr/>
        </p:nvSpPr>
        <p:spPr>
          <a:xfrm>
            <a:off x="5532120" y="1883664"/>
            <a:ext cx="2148840" cy="274320"/>
          </a:xfrm>
          <a:prstGeom prst="rect">
            <a:avLst/>
          </a:prstGeom>
          <a:noFill/>
          <a:ln/>
        </p:spPr>
        <p:txBody>
          <a:bodyPr wrap="square" lIns="0" tIns="0" rIns="0" bIns="0" rtlCol="0" anchor="t"/>
          <a:lstStyle/>
          <a:p>
            <a:pPr indent="0" marL="0">
              <a:buNone/>
            </a:pPr>
            <a:r>
              <a:rPr lang="en-US" sz="1200" dirty="0">
                <a:solidFill>
                  <a:schemeClr val="accent5"/>
                </a:solidFill>
              </a:rPr>
              <a:t>Node.js · localhost:5000</a:t>
            </a:r>
            <a:endParaRPr lang="en-US" sz="1200" dirty="0"/>
          </a:p>
        </p:txBody>
      </p:sp>
      <p:sp>
        <p:nvSpPr>
          <p:cNvPr id="16" name="Text 12"/>
          <p:cNvSpPr txBox="1"/>
          <p:nvPr/>
        </p:nvSpPr>
        <p:spPr>
          <a:xfrm>
            <a:off x="4846320" y="2377440"/>
            <a:ext cx="2788920" cy="210312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Routes: /api/auth, /classes, /bookings, /admin</a:t>
            </a:r>
            <a:endParaRPr lang="en-US" sz="1400" dirty="0"/>
          </a:p>
          <a:p>
            <a:pPr marL="190500" indent="-190500">
              <a:spcAft>
                <a:spcPts val="600"/>
              </a:spcAft>
              <a:buSzPct val="100000"/>
              <a:buChar char="•"/>
            </a:pPr>
            <a:r>
              <a:rPr lang="en-US" sz="1400" dirty="0">
                <a:solidFill>
                  <a:schemeClr val="tx1"/>
                </a:solidFill>
              </a:rPr>
              <a:t>Validation and business rules</a:t>
            </a:r>
            <a:endParaRPr lang="en-US" sz="1400" dirty="0"/>
          </a:p>
          <a:p>
            <a:pPr marL="190500" indent="-190500">
              <a:spcAft>
                <a:spcPts val="600"/>
              </a:spcAft>
              <a:buSzPct val="100000"/>
              <a:buChar char="•"/>
            </a:pPr>
            <a:r>
              <a:rPr lang="en-US" sz="1400" dirty="0">
                <a:solidFill>
                  <a:schemeClr val="tx1"/>
                </a:solidFill>
              </a:rPr>
              <a:t>Central error handling</a:t>
            </a:r>
            <a:endParaRPr lang="en-US" sz="1400" dirty="0"/>
          </a:p>
        </p:txBody>
      </p:sp>
      <p:sp>
        <p:nvSpPr>
          <p:cNvPr id="17" name="Link 2"/>
          <p:cNvSpPr/>
          <p:nvPr/>
        </p:nvSpPr>
        <p:spPr>
          <a:xfrm>
            <a:off x="7891272" y="2971800"/>
            <a:ext cx="630936" cy="0"/>
          </a:xfrm>
          <a:prstGeom prst="line">
            <a:avLst/>
          </a:prstGeom>
          <a:noFill/>
          <a:ln w="31750">
            <a:solidFill>
              <a:srgbClr val="D9A66B"/>
            </a:solidFill>
            <a:prstDash val="solid"/>
            <a:headEnd type="triangle"/>
            <a:tailEnd type="triangle"/>
          </a:ln>
        </p:spPr>
      </p:sp>
      <p:sp>
        <p:nvSpPr>
          <p:cNvPr id="18" name="Text 14"/>
          <p:cNvSpPr txBox="1"/>
          <p:nvPr/>
        </p:nvSpPr>
        <p:spPr>
          <a:xfrm>
            <a:off x="7754112" y="2514600"/>
            <a:ext cx="905256" cy="365760"/>
          </a:xfrm>
          <a:prstGeom prst="rect">
            <a:avLst/>
          </a:prstGeom>
          <a:noFill/>
          <a:ln/>
        </p:spPr>
        <p:txBody>
          <a:bodyPr wrap="square" lIns="0" tIns="0" rIns="0" bIns="0" rtlCol="0" anchor="t"/>
          <a:lstStyle/>
          <a:p>
            <a:pPr algn="ctr" indent="0" marL="0">
              <a:buNone/>
            </a:pPr>
            <a:r>
              <a:rPr lang="en-US" sz="1100" b="1" dirty="0">
                <a:solidFill>
                  <a:schemeClr val="accent2"/>
                </a:solidFill>
              </a:rPr>
              <a:t>Mongoose</a:t>
            </a:r>
            <a:endParaRPr lang="en-US" sz="1100" dirty="0"/>
          </a:p>
        </p:txBody>
      </p:sp>
      <p:sp>
        <p:nvSpPr>
          <p:cNvPr id="19" name="Tier 3"/>
          <p:cNvSpPr/>
          <p:nvPr/>
        </p:nvSpPr>
        <p:spPr>
          <a:xfrm>
            <a:off x="8595360" y="1371600"/>
            <a:ext cx="3246120" cy="3200400"/>
          </a:xfrm>
          <a:prstGeom prst="roundRect">
            <a:avLst>
              <a:gd name="adj" fmla="val 3429"/>
            </a:avLst>
          </a:prstGeom>
          <a:solidFill>
            <a:schemeClr val="bg2"/>
          </a:solidFill>
          <a:ln/>
        </p:spPr>
      </p:sp>
      <p:sp>
        <p:nvSpPr>
          <p:cNvPr id="20" name="Tier 3 circle"/>
          <p:cNvSpPr/>
          <p:nvPr/>
        </p:nvSpPr>
        <p:spPr>
          <a:xfrm>
            <a:off x="8823960" y="1554480"/>
            <a:ext cx="594360" cy="594360"/>
          </a:xfrm>
          <a:prstGeom prst="ellipse">
            <a:avLst/>
          </a:prstGeom>
          <a:solidFill>
            <a:schemeClr val="accent1"/>
          </a:solidFill>
          <a:ln/>
        </p:spPr>
      </p:sp>
      <p:pic>
        <p:nvPicPr>
          <p:cNvPr id="21" name="Tier 3 icon" descr="preencoded.png">    </p:cNvPr>
          <p:cNvPicPr>
            <a:picLocks noChangeAspect="1"/>
          </p:cNvPicPr>
          <p:nvPr/>
        </p:nvPicPr>
        <p:blipFill>
          <a:blip r:embed="rId3"/>
          <a:stretch>
            <a:fillRect/>
          </a:stretch>
        </p:blipFill>
        <p:spPr>
          <a:xfrm>
            <a:off x="8972550" y="1703070"/>
            <a:ext cx="297180" cy="297180"/>
          </a:xfrm>
          <a:prstGeom prst="rect">
            <a:avLst/>
          </a:prstGeom>
        </p:spPr>
      </p:pic>
      <p:sp>
        <p:nvSpPr>
          <p:cNvPr id="22" name="Text 17"/>
          <p:cNvSpPr txBox="1"/>
          <p:nvPr/>
        </p:nvSpPr>
        <p:spPr>
          <a:xfrm>
            <a:off x="9555480" y="1536192"/>
            <a:ext cx="2148840" cy="365760"/>
          </a:xfrm>
          <a:prstGeom prst="rect">
            <a:avLst/>
          </a:prstGeom>
          <a:noFill/>
          <a:ln/>
        </p:spPr>
        <p:txBody>
          <a:bodyPr wrap="square" lIns="0" tIns="0" rIns="0" bIns="0" rtlCol="0" anchor="t"/>
          <a:lstStyle/>
          <a:p>
            <a:pPr indent="0" marL="0">
              <a:buNone/>
            </a:pPr>
            <a:r>
              <a:rPr lang="en-US" sz="1600" b="1" dirty="0">
                <a:solidFill>
                  <a:schemeClr val="tx1"/>
                </a:solidFill>
              </a:rPr>
              <a:t>MongoDB Atlas</a:t>
            </a:r>
            <a:endParaRPr lang="en-US" sz="1600" dirty="0"/>
          </a:p>
        </p:txBody>
      </p:sp>
      <p:sp>
        <p:nvSpPr>
          <p:cNvPr id="23" name="Text 18"/>
          <p:cNvSpPr txBox="1"/>
          <p:nvPr/>
        </p:nvSpPr>
        <p:spPr>
          <a:xfrm>
            <a:off x="9555480" y="1883664"/>
            <a:ext cx="2148840" cy="274320"/>
          </a:xfrm>
          <a:prstGeom prst="rect">
            <a:avLst/>
          </a:prstGeom>
          <a:noFill/>
          <a:ln/>
        </p:spPr>
        <p:txBody>
          <a:bodyPr wrap="square" lIns="0" tIns="0" rIns="0" bIns="0" rtlCol="0" anchor="t"/>
          <a:lstStyle/>
          <a:p>
            <a:pPr indent="0" marL="0">
              <a:buNone/>
            </a:pPr>
            <a:r>
              <a:rPr lang="en-US" sz="1200" dirty="0">
                <a:solidFill>
                  <a:schemeClr val="accent5"/>
                </a:solidFill>
              </a:rPr>
              <a:t>cluster0 · yoga_booking</a:t>
            </a:r>
            <a:endParaRPr lang="en-US" sz="1200" dirty="0"/>
          </a:p>
        </p:txBody>
      </p:sp>
      <p:sp>
        <p:nvSpPr>
          <p:cNvPr id="24" name="Text 19"/>
          <p:cNvSpPr txBox="1"/>
          <p:nvPr/>
        </p:nvSpPr>
        <p:spPr>
          <a:xfrm>
            <a:off x="8869680" y="2377440"/>
            <a:ext cx="2788920" cy="210312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users</a:t>
            </a:r>
            <a:endParaRPr lang="en-US" sz="1400" dirty="0"/>
          </a:p>
          <a:p>
            <a:pPr marL="190500" indent="-190500">
              <a:spcAft>
                <a:spcPts val="600"/>
              </a:spcAft>
              <a:buSzPct val="100000"/>
              <a:buChar char="•"/>
            </a:pPr>
            <a:r>
              <a:rPr lang="en-US" sz="1400" dirty="0">
                <a:solidFill>
                  <a:schemeClr val="tx1"/>
                </a:solidFill>
              </a:rPr>
              <a:t>yogaclasses</a:t>
            </a:r>
            <a:endParaRPr lang="en-US" sz="1400" dirty="0"/>
          </a:p>
          <a:p>
            <a:pPr marL="190500" indent="-190500">
              <a:spcAft>
                <a:spcPts val="600"/>
              </a:spcAft>
              <a:buSzPct val="100000"/>
              <a:buChar char="•"/>
            </a:pPr>
            <a:r>
              <a:rPr lang="en-US" sz="1400" dirty="0">
                <a:solidFill>
                  <a:schemeClr val="tx1"/>
                </a:solidFill>
              </a:rPr>
              <a:t>bookings</a:t>
            </a:r>
            <a:endParaRPr lang="en-US" sz="1400" dirty="0"/>
          </a:p>
        </p:txBody>
      </p:sp>
      <p:sp>
        <p:nvSpPr>
          <p:cNvPr id="25" name="Text 20"/>
          <p:cNvSpPr txBox="1"/>
          <p:nvPr/>
        </p:nvSpPr>
        <p:spPr>
          <a:xfrm>
            <a:off x="548640" y="4846320"/>
            <a:ext cx="7315200" cy="365760"/>
          </a:xfrm>
          <a:prstGeom prst="rect">
            <a:avLst/>
          </a:prstGeom>
          <a:noFill/>
          <a:ln/>
        </p:spPr>
        <p:txBody>
          <a:bodyPr wrap="square" lIns="0" tIns="0" rIns="0" bIns="0" rtlCol="0" anchor="t"/>
          <a:lstStyle/>
          <a:p>
            <a:pPr indent="0" marL="0">
              <a:buNone/>
            </a:pPr>
            <a:r>
              <a:rPr lang="en-US" sz="1600" b="1" dirty="0">
                <a:solidFill>
                  <a:schemeClr val="tx2"/>
                </a:solidFill>
              </a:rPr>
              <a:t>Express middleware chain for every request</a:t>
            </a:r>
            <a:endParaRPr lang="en-US" sz="1600" dirty="0"/>
          </a:p>
        </p:txBody>
      </p:sp>
      <p:sp>
        <p:nvSpPr>
          <p:cNvPr id="26" name="Middleware cors()"/>
          <p:cNvSpPr/>
          <p:nvPr/>
        </p:nvSpPr>
        <p:spPr>
          <a:xfrm>
            <a:off x="548640" y="5349240"/>
            <a:ext cx="1691640" cy="548640"/>
          </a:xfrm>
          <a:prstGeom prst="roundRect">
            <a:avLst>
              <a:gd name="adj" fmla="val 50000"/>
            </a:avLst>
          </a:prstGeom>
          <a:solidFill>
            <a:schemeClr val="bg2"/>
          </a:solidFill>
          <a:ln/>
        </p:spPr>
      </p:sp>
      <p:sp>
        <p:nvSpPr>
          <p:cNvPr id="27" name="Text 22"/>
          <p:cNvSpPr txBox="1"/>
          <p:nvPr/>
        </p:nvSpPr>
        <p:spPr>
          <a:xfrm>
            <a:off x="548640" y="5349240"/>
            <a:ext cx="1691640" cy="548640"/>
          </a:xfrm>
          <a:prstGeom prst="rect">
            <a:avLst/>
          </a:prstGeom>
          <a:noFill/>
          <a:ln/>
        </p:spPr>
        <p:txBody>
          <a:bodyPr wrap="square" lIns="0" tIns="0" rIns="0" bIns="0" rtlCol="0" anchor="ctr"/>
          <a:lstStyle/>
          <a:p>
            <a:pPr algn="ctr" indent="0" marL="0">
              <a:buNone/>
            </a:pPr>
            <a:r>
              <a:rPr lang="en-US" sz="1400" b="1" dirty="0">
                <a:solidFill>
                  <a:schemeClr val="tx2"/>
                </a:solidFill>
              </a:rPr>
              <a:t>cors()</a:t>
            </a:r>
            <a:endParaRPr lang="en-US" sz="1400" dirty="0"/>
          </a:p>
        </p:txBody>
      </p:sp>
      <p:sp>
        <p:nvSpPr>
          <p:cNvPr id="28" name="Middleware express.json()"/>
          <p:cNvSpPr/>
          <p:nvPr/>
        </p:nvSpPr>
        <p:spPr>
          <a:xfrm>
            <a:off x="2423160" y="5349240"/>
            <a:ext cx="1691640" cy="548640"/>
          </a:xfrm>
          <a:prstGeom prst="roundRect">
            <a:avLst>
              <a:gd name="adj" fmla="val 50000"/>
            </a:avLst>
          </a:prstGeom>
          <a:solidFill>
            <a:schemeClr val="bg2"/>
          </a:solidFill>
          <a:ln/>
        </p:spPr>
      </p:sp>
      <p:sp>
        <p:nvSpPr>
          <p:cNvPr id="29" name="Text 24"/>
          <p:cNvSpPr txBox="1"/>
          <p:nvPr/>
        </p:nvSpPr>
        <p:spPr>
          <a:xfrm>
            <a:off x="2423160" y="5349240"/>
            <a:ext cx="1691640" cy="548640"/>
          </a:xfrm>
          <a:prstGeom prst="rect">
            <a:avLst/>
          </a:prstGeom>
          <a:noFill/>
          <a:ln/>
        </p:spPr>
        <p:txBody>
          <a:bodyPr wrap="square" lIns="0" tIns="0" rIns="0" bIns="0" rtlCol="0" anchor="ctr"/>
          <a:lstStyle/>
          <a:p>
            <a:pPr algn="ctr" indent="0" marL="0">
              <a:buNone/>
            </a:pPr>
            <a:r>
              <a:rPr lang="en-US" sz="1400" b="1" dirty="0">
                <a:solidFill>
                  <a:schemeClr val="tx2"/>
                </a:solidFill>
              </a:rPr>
              <a:t>express.json()</a:t>
            </a:r>
            <a:endParaRPr lang="en-US" sz="1400" dirty="0"/>
          </a:p>
        </p:txBody>
      </p:sp>
      <p:sp>
        <p:nvSpPr>
          <p:cNvPr id="30" name="Middleware auth (JWT)"/>
          <p:cNvSpPr/>
          <p:nvPr/>
        </p:nvSpPr>
        <p:spPr>
          <a:xfrm>
            <a:off x="4297680" y="5349240"/>
            <a:ext cx="1691640" cy="548640"/>
          </a:xfrm>
          <a:prstGeom prst="roundRect">
            <a:avLst>
              <a:gd name="adj" fmla="val 50000"/>
            </a:avLst>
          </a:prstGeom>
          <a:solidFill>
            <a:schemeClr val="accent1"/>
          </a:solidFill>
          <a:ln/>
        </p:spPr>
      </p:sp>
      <p:sp>
        <p:nvSpPr>
          <p:cNvPr id="31" name="Text 26"/>
          <p:cNvSpPr txBox="1"/>
          <p:nvPr/>
        </p:nvSpPr>
        <p:spPr>
          <a:xfrm>
            <a:off x="4297680" y="5349240"/>
            <a:ext cx="1691640" cy="548640"/>
          </a:xfrm>
          <a:prstGeom prst="rect">
            <a:avLst/>
          </a:prstGeom>
          <a:noFill/>
          <a:ln/>
        </p:spPr>
        <p:txBody>
          <a:bodyPr wrap="square" lIns="0" tIns="0" rIns="0" bIns="0" rtlCol="0" anchor="ctr"/>
          <a:lstStyle/>
          <a:p>
            <a:pPr algn="ctr" indent="0" marL="0">
              <a:buNone/>
            </a:pPr>
            <a:r>
              <a:rPr lang="en-US" sz="1400" b="1" dirty="0">
                <a:solidFill>
                  <a:schemeClr val="bg1"/>
                </a:solidFill>
              </a:rPr>
              <a:t>auth (JWT)</a:t>
            </a:r>
            <a:endParaRPr lang="en-US" sz="1400" dirty="0"/>
          </a:p>
        </p:txBody>
      </p:sp>
      <p:sp>
        <p:nvSpPr>
          <p:cNvPr id="32" name="Middleware adminOnly"/>
          <p:cNvSpPr/>
          <p:nvPr/>
        </p:nvSpPr>
        <p:spPr>
          <a:xfrm>
            <a:off x="6172200" y="5349240"/>
            <a:ext cx="1691640" cy="548640"/>
          </a:xfrm>
          <a:prstGeom prst="roundRect">
            <a:avLst>
              <a:gd name="adj" fmla="val 50000"/>
            </a:avLst>
          </a:prstGeom>
          <a:solidFill>
            <a:schemeClr val="accent1"/>
          </a:solidFill>
          <a:ln/>
        </p:spPr>
      </p:sp>
      <p:sp>
        <p:nvSpPr>
          <p:cNvPr id="33" name="Text 28"/>
          <p:cNvSpPr txBox="1"/>
          <p:nvPr/>
        </p:nvSpPr>
        <p:spPr>
          <a:xfrm>
            <a:off x="6172200" y="5349240"/>
            <a:ext cx="1691640" cy="548640"/>
          </a:xfrm>
          <a:prstGeom prst="rect">
            <a:avLst/>
          </a:prstGeom>
          <a:noFill/>
          <a:ln/>
        </p:spPr>
        <p:txBody>
          <a:bodyPr wrap="square" lIns="0" tIns="0" rIns="0" bIns="0" rtlCol="0" anchor="ctr"/>
          <a:lstStyle/>
          <a:p>
            <a:pPr algn="ctr" indent="0" marL="0">
              <a:buNone/>
            </a:pPr>
            <a:r>
              <a:rPr lang="en-US" sz="1400" b="1" dirty="0">
                <a:solidFill>
                  <a:schemeClr val="bg1"/>
                </a:solidFill>
              </a:rPr>
              <a:t>adminOnly</a:t>
            </a:r>
            <a:endParaRPr lang="en-US" sz="1400" dirty="0"/>
          </a:p>
        </p:txBody>
      </p:sp>
      <p:sp>
        <p:nvSpPr>
          <p:cNvPr id="34" name="Middleware route handler"/>
          <p:cNvSpPr/>
          <p:nvPr/>
        </p:nvSpPr>
        <p:spPr>
          <a:xfrm>
            <a:off x="8046720" y="5349240"/>
            <a:ext cx="1691640" cy="548640"/>
          </a:xfrm>
          <a:prstGeom prst="roundRect">
            <a:avLst>
              <a:gd name="adj" fmla="val 50000"/>
            </a:avLst>
          </a:prstGeom>
          <a:solidFill>
            <a:schemeClr val="bg2"/>
          </a:solidFill>
          <a:ln/>
        </p:spPr>
      </p:sp>
      <p:sp>
        <p:nvSpPr>
          <p:cNvPr id="35" name="Text 30"/>
          <p:cNvSpPr txBox="1"/>
          <p:nvPr/>
        </p:nvSpPr>
        <p:spPr>
          <a:xfrm>
            <a:off x="8046720" y="5349240"/>
            <a:ext cx="1691640" cy="548640"/>
          </a:xfrm>
          <a:prstGeom prst="rect">
            <a:avLst/>
          </a:prstGeom>
          <a:noFill/>
          <a:ln/>
        </p:spPr>
        <p:txBody>
          <a:bodyPr wrap="square" lIns="0" tIns="0" rIns="0" bIns="0" rtlCol="0" anchor="ctr"/>
          <a:lstStyle/>
          <a:p>
            <a:pPr algn="ctr" indent="0" marL="0">
              <a:buNone/>
            </a:pPr>
            <a:r>
              <a:rPr lang="en-US" sz="1400" b="1" dirty="0">
                <a:solidFill>
                  <a:schemeClr val="tx2"/>
                </a:solidFill>
              </a:rPr>
              <a:t>route handler</a:t>
            </a:r>
            <a:endParaRPr lang="en-US" sz="1400" dirty="0"/>
          </a:p>
        </p:txBody>
      </p:sp>
      <p:sp>
        <p:nvSpPr>
          <p:cNvPr id="36" name="Middleware error handler"/>
          <p:cNvSpPr/>
          <p:nvPr/>
        </p:nvSpPr>
        <p:spPr>
          <a:xfrm>
            <a:off x="9921240" y="5349240"/>
            <a:ext cx="1691640" cy="548640"/>
          </a:xfrm>
          <a:prstGeom prst="roundRect">
            <a:avLst>
              <a:gd name="adj" fmla="val 50000"/>
            </a:avLst>
          </a:prstGeom>
          <a:solidFill>
            <a:schemeClr val="bg2"/>
          </a:solidFill>
          <a:ln/>
        </p:spPr>
      </p:sp>
      <p:sp>
        <p:nvSpPr>
          <p:cNvPr id="37" name="Text 32"/>
          <p:cNvSpPr txBox="1"/>
          <p:nvPr/>
        </p:nvSpPr>
        <p:spPr>
          <a:xfrm>
            <a:off x="9921240" y="5349240"/>
            <a:ext cx="1691640" cy="548640"/>
          </a:xfrm>
          <a:prstGeom prst="rect">
            <a:avLst/>
          </a:prstGeom>
          <a:noFill/>
          <a:ln/>
        </p:spPr>
        <p:txBody>
          <a:bodyPr wrap="square" lIns="0" tIns="0" rIns="0" bIns="0" rtlCol="0" anchor="ctr"/>
          <a:lstStyle/>
          <a:p>
            <a:pPr algn="ctr" indent="0" marL="0">
              <a:buNone/>
            </a:pPr>
            <a:r>
              <a:rPr lang="en-US" sz="1400" b="1" dirty="0">
                <a:solidFill>
                  <a:schemeClr val="tx2"/>
                </a:solidFill>
              </a:rPr>
              <a:t>error handler</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7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Three collections linked by ObjectId references</a:t>
            </a:r>
            <a:endParaRPr lang="en-US" sz="3000" dirty="0"/>
          </a:p>
        </p:txBody>
      </p:sp>
      <p:sp>
        <p:nvSpPr>
          <p:cNvPr id="3" name="users header"/>
          <p:cNvSpPr/>
          <p:nvPr/>
        </p:nvSpPr>
        <p:spPr>
          <a:xfrm>
            <a:off x="548640" y="1371600"/>
            <a:ext cx="3246120" cy="594360"/>
          </a:xfrm>
          <a:prstGeom prst="roundRect">
            <a:avLst>
              <a:gd name="adj" fmla="val 18462"/>
            </a:avLst>
          </a:prstGeom>
          <a:solidFill>
            <a:schemeClr val="accent1"/>
          </a:solidFill>
          <a:ln/>
        </p:spPr>
      </p:sp>
      <p:sp>
        <p:nvSpPr>
          <p:cNvPr id="4" name="Text 2"/>
          <p:cNvSpPr txBox="1"/>
          <p:nvPr/>
        </p:nvSpPr>
        <p:spPr>
          <a:xfrm>
            <a:off x="548640" y="1371600"/>
            <a:ext cx="324612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users</a:t>
            </a:r>
            <a:endParaRPr lang="en-US" sz="1800" dirty="0"/>
          </a:p>
        </p:txBody>
      </p:sp>
      <p:sp>
        <p:nvSpPr>
          <p:cNvPr id="5" name="users fields"/>
          <p:cNvSpPr/>
          <p:nvPr/>
        </p:nvSpPr>
        <p:spPr>
          <a:xfrm>
            <a:off x="548640" y="2057400"/>
            <a:ext cx="3246120" cy="2926080"/>
          </a:xfrm>
          <a:prstGeom prst="roundRect">
            <a:avLst>
              <a:gd name="adj" fmla="val 3750"/>
            </a:avLst>
          </a:prstGeom>
          <a:solidFill>
            <a:schemeClr val="bg2"/>
          </a:solidFill>
          <a:ln/>
        </p:spPr>
      </p:sp>
      <p:sp>
        <p:nvSpPr>
          <p:cNvPr id="6" name="Text 4"/>
          <p:cNvSpPr txBox="1"/>
          <p:nvPr/>
        </p:nvSpPr>
        <p:spPr>
          <a:xfrm>
            <a:off x="777240" y="2240280"/>
            <a:ext cx="2880360" cy="2651760"/>
          </a:xfrm>
          <a:prstGeom prst="rect">
            <a:avLst/>
          </a:prstGeom>
          <a:noFill/>
          <a:ln/>
        </p:spPr>
        <p:txBody>
          <a:bodyPr wrap="square" lIns="0" tIns="0" rIns="0" bIns="0" rtlCol="0" anchor="t"/>
          <a:lstStyle/>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_id : ObjectId</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name : String</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email : String (unique)</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password : String (bcrypt hash)</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role : "member" | "admin"</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createdAt, updatedAt</a:t>
            </a:r>
            <a:endParaRPr lang="en-US" sz="1400" dirty="0"/>
          </a:p>
        </p:txBody>
      </p:sp>
      <p:sp>
        <p:nvSpPr>
          <p:cNvPr id="7" name="bookings header"/>
          <p:cNvSpPr/>
          <p:nvPr/>
        </p:nvSpPr>
        <p:spPr>
          <a:xfrm>
            <a:off x="4572000" y="1371600"/>
            <a:ext cx="3246120" cy="594360"/>
          </a:xfrm>
          <a:prstGeom prst="roundRect">
            <a:avLst>
              <a:gd name="adj" fmla="val 18462"/>
            </a:avLst>
          </a:prstGeom>
          <a:solidFill>
            <a:schemeClr val="accent2"/>
          </a:solidFill>
          <a:ln/>
        </p:spPr>
      </p:sp>
      <p:sp>
        <p:nvSpPr>
          <p:cNvPr id="8" name="Text 6"/>
          <p:cNvSpPr txBox="1"/>
          <p:nvPr/>
        </p:nvSpPr>
        <p:spPr>
          <a:xfrm>
            <a:off x="4572000" y="1371600"/>
            <a:ext cx="324612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bookings</a:t>
            </a:r>
            <a:endParaRPr lang="en-US" sz="1800" dirty="0"/>
          </a:p>
        </p:txBody>
      </p:sp>
      <p:sp>
        <p:nvSpPr>
          <p:cNvPr id="9" name="bookings fields"/>
          <p:cNvSpPr/>
          <p:nvPr/>
        </p:nvSpPr>
        <p:spPr>
          <a:xfrm>
            <a:off x="4572000" y="2057400"/>
            <a:ext cx="3246120" cy="2926080"/>
          </a:xfrm>
          <a:prstGeom prst="roundRect">
            <a:avLst>
              <a:gd name="adj" fmla="val 3750"/>
            </a:avLst>
          </a:prstGeom>
          <a:solidFill>
            <a:schemeClr val="bg2"/>
          </a:solidFill>
          <a:ln/>
        </p:spPr>
      </p:sp>
      <p:sp>
        <p:nvSpPr>
          <p:cNvPr id="10" name="Text 8"/>
          <p:cNvSpPr txBox="1"/>
          <p:nvPr/>
        </p:nvSpPr>
        <p:spPr>
          <a:xfrm>
            <a:off x="4800600" y="2240280"/>
            <a:ext cx="2880360" cy="2651760"/>
          </a:xfrm>
          <a:prstGeom prst="rect">
            <a:avLst/>
          </a:prstGeom>
          <a:noFill/>
          <a:ln/>
        </p:spPr>
        <p:txBody>
          <a:bodyPr wrap="square" lIns="0" tIns="0" rIns="0" bIns="0" rtlCol="0" anchor="t"/>
          <a:lstStyle/>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_id : ObjectId</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userId : ObjectId → users</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classId : ObjectId → yogaclasses</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status : "confirmed" | "cancelled"</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cancelledAt : Date</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createdAt, updatedAt</a:t>
            </a:r>
            <a:endParaRPr lang="en-US" sz="1400" dirty="0"/>
          </a:p>
        </p:txBody>
      </p:sp>
      <p:sp>
        <p:nvSpPr>
          <p:cNvPr id="11" name="yogaclasses header"/>
          <p:cNvSpPr/>
          <p:nvPr/>
        </p:nvSpPr>
        <p:spPr>
          <a:xfrm>
            <a:off x="8595360" y="1371600"/>
            <a:ext cx="3246120" cy="594360"/>
          </a:xfrm>
          <a:prstGeom prst="roundRect">
            <a:avLst>
              <a:gd name="adj" fmla="val 18462"/>
            </a:avLst>
          </a:prstGeom>
          <a:solidFill>
            <a:schemeClr val="accent1"/>
          </a:solidFill>
          <a:ln/>
        </p:spPr>
      </p:sp>
      <p:sp>
        <p:nvSpPr>
          <p:cNvPr id="12" name="Text 10"/>
          <p:cNvSpPr txBox="1"/>
          <p:nvPr/>
        </p:nvSpPr>
        <p:spPr>
          <a:xfrm>
            <a:off x="8595360" y="1371600"/>
            <a:ext cx="324612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yogaclasses</a:t>
            </a:r>
            <a:endParaRPr lang="en-US" sz="1800" dirty="0"/>
          </a:p>
        </p:txBody>
      </p:sp>
      <p:sp>
        <p:nvSpPr>
          <p:cNvPr id="13" name="yogaclasses fields"/>
          <p:cNvSpPr/>
          <p:nvPr/>
        </p:nvSpPr>
        <p:spPr>
          <a:xfrm>
            <a:off x="8595360" y="2057400"/>
            <a:ext cx="3246120" cy="2926080"/>
          </a:xfrm>
          <a:prstGeom prst="roundRect">
            <a:avLst>
              <a:gd name="adj" fmla="val 3750"/>
            </a:avLst>
          </a:prstGeom>
          <a:solidFill>
            <a:schemeClr val="bg2"/>
          </a:solidFill>
          <a:ln/>
        </p:spPr>
      </p:sp>
      <p:sp>
        <p:nvSpPr>
          <p:cNvPr id="14" name="Text 12"/>
          <p:cNvSpPr txBox="1"/>
          <p:nvPr/>
        </p:nvSpPr>
        <p:spPr>
          <a:xfrm>
            <a:off x="8823960" y="2240280"/>
            <a:ext cx="2880360" cy="2651760"/>
          </a:xfrm>
          <a:prstGeom prst="rect">
            <a:avLst/>
          </a:prstGeom>
          <a:noFill/>
          <a:ln/>
        </p:spPr>
        <p:txBody>
          <a:bodyPr wrap="square" lIns="0" tIns="0" rIns="0" bIns="0" rtlCol="0" anchor="t"/>
          <a:lstStyle/>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_id : ObjectId</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title, style, level, instructor</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date : "YYYY-MM-DD"</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startTime : "HH:MM"</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duration, capacity, price : Number</a:t>
            </a:r>
            <a:endParaRPr lang="en-US" sz="1400" dirty="0"/>
          </a:p>
          <a:p>
            <a:pPr indent="0" marL="0">
              <a:spcAft>
                <a:spcPts val="800"/>
              </a:spcAft>
              <a:buNone/>
            </a:pPr>
            <a:r>
              <a:rPr lang="en-US" sz="1400" dirty="0">
                <a:solidFill>
                  <a:schemeClr val="tx1"/>
                </a:solidFill>
                <a:latin typeface="Courier New" pitchFamily="34" charset="0"/>
                <a:ea typeface="Courier New" pitchFamily="34" charset="-122"/>
                <a:cs typeface="Courier New" pitchFamily="34" charset="-120"/>
              </a:rPr>
              <a:t>location, description</a:t>
            </a:r>
            <a:endParaRPr lang="en-US" sz="1400" dirty="0"/>
          </a:p>
        </p:txBody>
      </p:sp>
      <p:sp>
        <p:nvSpPr>
          <p:cNvPr id="15" name="Relation 1"/>
          <p:cNvSpPr/>
          <p:nvPr/>
        </p:nvSpPr>
        <p:spPr>
          <a:xfrm>
            <a:off x="3867912" y="3520440"/>
            <a:ext cx="630936" cy="0"/>
          </a:xfrm>
          <a:prstGeom prst="line">
            <a:avLst/>
          </a:prstGeom>
          <a:noFill/>
          <a:ln w="31750">
            <a:solidFill>
              <a:srgbClr val="D9A66B"/>
            </a:solidFill>
            <a:prstDash val="solid"/>
            <a:headEnd type="triangle"/>
          </a:ln>
        </p:spPr>
      </p:sp>
      <p:sp>
        <p:nvSpPr>
          <p:cNvPr id="16" name="Text 14"/>
          <p:cNvSpPr txBox="1"/>
          <p:nvPr/>
        </p:nvSpPr>
        <p:spPr>
          <a:xfrm>
            <a:off x="3776472" y="3611880"/>
            <a:ext cx="777240" cy="548640"/>
          </a:xfrm>
          <a:prstGeom prst="rect">
            <a:avLst/>
          </a:prstGeom>
          <a:noFill/>
          <a:ln/>
        </p:spPr>
        <p:txBody>
          <a:bodyPr wrap="square" lIns="0" tIns="0" rIns="0" bIns="0" rtlCol="0" anchor="t"/>
          <a:lstStyle/>
          <a:p>
            <a:pPr algn="ctr" indent="0" marL="0">
              <a:buNone/>
            </a:pPr>
            <a:r>
              <a:rPr lang="en-US" sz="1100" b="1" dirty="0">
                <a:solidFill>
                  <a:schemeClr val="accent2"/>
                </a:solidFill>
              </a:rPr>
              <a:t>1 user : N bookings</a:t>
            </a:r>
            <a:endParaRPr lang="en-US" sz="1100" dirty="0"/>
          </a:p>
        </p:txBody>
      </p:sp>
      <p:sp>
        <p:nvSpPr>
          <p:cNvPr id="17" name="Relation 2"/>
          <p:cNvSpPr/>
          <p:nvPr/>
        </p:nvSpPr>
        <p:spPr>
          <a:xfrm>
            <a:off x="7891272" y="3520440"/>
            <a:ext cx="630936" cy="0"/>
          </a:xfrm>
          <a:prstGeom prst="line">
            <a:avLst/>
          </a:prstGeom>
          <a:noFill/>
          <a:ln w="31750">
            <a:solidFill>
              <a:srgbClr val="D9A66B"/>
            </a:solidFill>
            <a:prstDash val="solid"/>
            <a:tailEnd type="triangle"/>
          </a:ln>
        </p:spPr>
      </p:sp>
      <p:sp>
        <p:nvSpPr>
          <p:cNvPr id="18" name="Text 16"/>
          <p:cNvSpPr txBox="1"/>
          <p:nvPr/>
        </p:nvSpPr>
        <p:spPr>
          <a:xfrm>
            <a:off x="7799832" y="3611880"/>
            <a:ext cx="777240" cy="548640"/>
          </a:xfrm>
          <a:prstGeom prst="rect">
            <a:avLst/>
          </a:prstGeom>
          <a:noFill/>
          <a:ln/>
        </p:spPr>
        <p:txBody>
          <a:bodyPr wrap="square" lIns="0" tIns="0" rIns="0" bIns="0" rtlCol="0" anchor="t"/>
          <a:lstStyle/>
          <a:p>
            <a:pPr algn="ctr" indent="0" marL="0">
              <a:buNone/>
            </a:pPr>
            <a:r>
              <a:rPr lang="en-US" sz="1100" b="1" dirty="0">
                <a:solidFill>
                  <a:schemeClr val="accent2"/>
                </a:solidFill>
              </a:rPr>
              <a:t>N bookings : 1 class</a:t>
            </a:r>
            <a:endParaRPr lang="en-US" sz="1100" dirty="0"/>
          </a:p>
        </p:txBody>
      </p:sp>
      <p:sp>
        <p:nvSpPr>
          <p:cNvPr id="19" name="Index note"/>
          <p:cNvSpPr/>
          <p:nvPr/>
        </p:nvSpPr>
        <p:spPr>
          <a:xfrm>
            <a:off x="548640" y="5212080"/>
            <a:ext cx="11094415" cy="868680"/>
          </a:xfrm>
          <a:prstGeom prst="roundRect">
            <a:avLst>
              <a:gd name="adj" fmla="val 12632"/>
            </a:avLst>
          </a:prstGeom>
          <a:solidFill>
            <a:schemeClr val="bg2"/>
          </a:solidFill>
          <a:ln/>
        </p:spPr>
      </p:sp>
      <p:sp>
        <p:nvSpPr>
          <p:cNvPr id="20" name="Text 18"/>
          <p:cNvSpPr txBox="1"/>
          <p:nvPr/>
        </p:nvSpPr>
        <p:spPr>
          <a:xfrm>
            <a:off x="822960" y="5212080"/>
            <a:ext cx="10545775" cy="868680"/>
          </a:xfrm>
          <a:prstGeom prst="rect">
            <a:avLst/>
          </a:prstGeom>
          <a:noFill/>
          <a:ln/>
        </p:spPr>
        <p:txBody>
          <a:bodyPr wrap="square" lIns="0" tIns="0" rIns="0" bIns="0" rtlCol="0" anchor="ctr"/>
          <a:lstStyle/>
          <a:p>
            <a:pPr indent="0" marL="0">
              <a:buNone/>
            </a:pPr>
            <a:r>
              <a:rPr lang="en-US" sz="1400" b="1" dirty="0">
                <a:solidFill>
                  <a:schemeClr val="tx1"/>
                </a:solidFill>
              </a:rPr>
              <a:t>Unique index { userId, classId }</a:t>
            </a:r>
            <a:pPr indent="0" marL="0">
              <a:buNone/>
            </a:pPr>
            <a:r>
              <a:rPr lang="en-US" sz="1400" dirty="0">
                <a:solidFill>
                  <a:schemeClr val="tx1"/>
                </a:solidFill>
              </a:rPr>
              <a:t> stops double bookings.   </a:t>
            </a:r>
            <a:pPr indent="0" marL="0">
              <a:buNone/>
            </a:pPr>
            <a:r>
              <a:rPr lang="en-US" sz="1400" b="1" dirty="0">
                <a:solidFill>
                  <a:schemeClr val="tx1"/>
                </a:solidFill>
              </a:rPr>
              <a:t>Aggregation pipeline</a:t>
            </a:r>
            <a:pPr indent="0" marL="0">
              <a:buNone/>
            </a:pPr>
            <a:r>
              <a:rPr lang="en-US" sz="1400" dirty="0">
                <a:solidFill>
                  <a:schemeClr val="tx1"/>
                </a:solidFill>
              </a:rPr>
              <a:t> ($match status: confirmed → $group by classId) counts seats to give spotsLeft.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7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REST endpoints, protected by role</a:t>
            </a:r>
            <a:endParaRPr lang="en-US" sz="3000" dirty="0"/>
          </a:p>
        </p:txBody>
      </p:sp>
      <p:graphicFrame>
        <p:nvGraphicFramePr>
          <p:cNvPr id="8" name="API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103120"/>
                <a:gridCol w="3383280"/>
                <a:gridCol w="3840480"/>
                <a:gridCol w="1764792"/>
              </a:tblGrid>
              <a:tr h="365760">
                <a:tc>
                  <a:txBody>
                    <a:bodyPr/>
                    <a:lstStyle/>
                    <a:p>
                      <a:pPr indent="0" marL="0">
                        <a:buNone/>
                      </a:pPr>
                      <a:r>
                        <a:rPr lang="en-US" sz="1300" b="1" dirty="0">
                          <a:solidFill>
                            <a:srgbClr val="FFFFFF"/>
                          </a:solidFill>
                        </a:rPr>
                        <a:t>Method</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4F7C64"/>
                    </a:solidFill>
                  </a:tcPr>
                </a:tc>
                <a:tc>
                  <a:txBody>
                    <a:bodyPr/>
                    <a:lstStyle/>
                    <a:p>
                      <a:pPr indent="0" marL="0">
                        <a:buNone/>
                      </a:pPr>
                      <a:r>
                        <a:rPr lang="en-US" sz="1300" b="1" dirty="0">
                          <a:solidFill>
                            <a:srgbClr val="FFFFFF"/>
                          </a:solidFill>
                        </a:rPr>
                        <a:t>Endpoint</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4F7C64"/>
                    </a:solidFill>
                  </a:tcPr>
                </a:tc>
                <a:tc>
                  <a:txBody>
                    <a:bodyPr/>
                    <a:lstStyle/>
                    <a:p>
                      <a:pPr indent="0" marL="0">
                        <a:buNone/>
                      </a:pPr>
                      <a:r>
                        <a:rPr lang="en-US" sz="1300" b="1" dirty="0">
                          <a:solidFill>
                            <a:srgbClr val="FFFFFF"/>
                          </a:solidFill>
                        </a:rPr>
                        <a:t>Purpose</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4F7C64"/>
                    </a:solidFill>
                  </a:tcPr>
                </a:tc>
                <a:tc>
                  <a:txBody>
                    <a:bodyPr/>
                    <a:lstStyle/>
                    <a:p>
                      <a:pPr indent="0" marL="0">
                        <a:buNone/>
                      </a:pPr>
                      <a:r>
                        <a:rPr lang="en-US" sz="1300" b="1" dirty="0">
                          <a:solidFill>
                            <a:srgbClr val="FFFFFF"/>
                          </a:solidFill>
                        </a:rPr>
                        <a:t>Access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4F7C64"/>
                    </a:solidFill>
                  </a:tcPr>
                </a:tc>
              </a:tr>
              <a:tr h="365760">
                <a:tc>
                  <a:txBody>
                    <a:bodyPr/>
                    <a:lstStyle/>
                    <a:p>
                      <a:pPr indent="0" marL="0">
                        <a:buNone/>
                      </a:pPr>
                      <a:r>
                        <a:rPr lang="en-US" sz="1300" b="1" dirty="0">
                          <a:solidFill>
                            <a:srgbClr val="1F2A24"/>
                          </a:solidFill>
                        </a:rPr>
                        <a:t>POST</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latin typeface="Courier New" pitchFamily="34" charset="0"/>
                          <a:ea typeface="Courier New" pitchFamily="34" charset="-122"/>
                          <a:cs typeface="Courier New" pitchFamily="34" charset="-120"/>
                        </a:rPr>
                        <a:t>/api/auth/register</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Create a member account</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Public</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F2A24"/>
                          </a:solidFill>
                        </a:rPr>
                        <a:t>POST</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latin typeface="Courier New" pitchFamily="34" charset="0"/>
                          <a:ea typeface="Courier New" pitchFamily="34" charset="-122"/>
                          <a:cs typeface="Courier New" pitchFamily="34" charset="-120"/>
                        </a:rPr>
                        <a:t>/api/auth/login</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Log in and receive a JWT</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Public</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r>
              <a:tr h="365760">
                <a:tc>
                  <a:txBody>
                    <a:bodyPr/>
                    <a:lstStyle/>
                    <a:p>
                      <a:pPr indent="0" marL="0">
                        <a:buNone/>
                      </a:pPr>
                      <a:r>
                        <a:rPr lang="en-US" sz="1300" b="1" dirty="0">
                          <a:solidFill>
                            <a:srgbClr val="1F2A24"/>
                          </a:solidFill>
                        </a:rPr>
                        <a:t>GET</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latin typeface="Courier New" pitchFamily="34" charset="0"/>
                          <a:ea typeface="Courier New" pitchFamily="34" charset="-122"/>
                          <a:cs typeface="Courier New" pitchFamily="34" charset="-120"/>
                        </a:rPr>
                        <a:t>/api/auth/me</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Current user from token</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Member</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F2A24"/>
                          </a:solidFill>
                        </a:rPr>
                        <a:t>GET</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latin typeface="Courier New" pitchFamily="34" charset="0"/>
                          <a:ea typeface="Courier New" pitchFamily="34" charset="-122"/>
                          <a:cs typeface="Courier New" pitchFamily="34" charset="-120"/>
                        </a:rPr>
                        <a:t>/api/classes</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Schedule with filters and spots left</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Public</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r>
              <a:tr h="365760">
                <a:tc>
                  <a:txBody>
                    <a:bodyPr/>
                    <a:lstStyle/>
                    <a:p>
                      <a:pPr indent="0" marL="0">
                        <a:buNone/>
                      </a:pPr>
                      <a:r>
                        <a:rPr lang="en-US" sz="1300" b="1" dirty="0">
                          <a:solidFill>
                            <a:srgbClr val="1F2A24"/>
                          </a:solidFill>
                        </a:rPr>
                        <a:t>GET</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latin typeface="Courier New" pitchFamily="34" charset="0"/>
                          <a:ea typeface="Courier New" pitchFamily="34" charset="-122"/>
                          <a:cs typeface="Courier New" pitchFamily="34" charset="-120"/>
                        </a:rPr>
                        <a:t>/api/classes/:id</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Single class details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Public</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F2A24"/>
                          </a:solidFill>
                        </a:rPr>
                        <a:t>POST · PUT · DELETE</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latin typeface="Courier New" pitchFamily="34" charset="0"/>
                          <a:ea typeface="Courier New" pitchFamily="34" charset="-122"/>
                          <a:cs typeface="Courier New" pitchFamily="34" charset="-120"/>
                        </a:rPr>
                        <a:t>/api/classes(/:id)</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Create, update, delete a class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C2453D"/>
                          </a:solidFill>
                        </a:rPr>
                        <a:t>Admin</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r>
              <a:tr h="365760">
                <a:tc>
                  <a:txBody>
                    <a:bodyPr/>
                    <a:lstStyle/>
                    <a:p>
                      <a:pPr indent="0" marL="0">
                        <a:buNone/>
                      </a:pPr>
                      <a:r>
                        <a:rPr lang="en-US" sz="1300" b="1" dirty="0">
                          <a:solidFill>
                            <a:srgbClr val="1F2A24"/>
                          </a:solidFill>
                        </a:rPr>
                        <a:t>GET</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latin typeface="Courier New" pitchFamily="34" charset="0"/>
                          <a:ea typeface="Courier New" pitchFamily="34" charset="-122"/>
                          <a:cs typeface="Courier New" pitchFamily="34" charset="-120"/>
                        </a:rPr>
                        <a:t>/api/classes/:id/attendees</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Members booked into a class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C2453D"/>
                          </a:solidFill>
                        </a:rPr>
                        <a:t>Admin</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F2A24"/>
                          </a:solidFill>
                        </a:rPr>
                        <a:t>POST</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latin typeface="Courier New" pitchFamily="34" charset="0"/>
                          <a:ea typeface="Courier New" pitchFamily="34" charset="-122"/>
                          <a:cs typeface="Courier New" pitchFamily="34" charset="-120"/>
                        </a:rPr>
                        <a:t>/api/bookings</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Book a class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Member</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r>
              <a:tr h="365760">
                <a:tc>
                  <a:txBody>
                    <a:bodyPr/>
                    <a:lstStyle/>
                    <a:p>
                      <a:pPr indent="0" marL="0">
                        <a:buNone/>
                      </a:pPr>
                      <a:r>
                        <a:rPr lang="en-US" sz="1300" b="1" dirty="0">
                          <a:solidFill>
                            <a:srgbClr val="1F2A24"/>
                          </a:solidFill>
                        </a:rPr>
                        <a:t>GET</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latin typeface="Courier New" pitchFamily="34" charset="0"/>
                          <a:ea typeface="Courier New" pitchFamily="34" charset="-122"/>
                          <a:cs typeface="Courier New" pitchFamily="34" charset="-120"/>
                        </a:rPr>
                        <a:t>/api/bookings/me</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My bookings with class details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Member</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F2A24"/>
                          </a:solidFill>
                        </a:rPr>
                        <a:t>DELETE</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latin typeface="Courier New" pitchFamily="34" charset="0"/>
                          <a:ea typeface="Courier New" pitchFamily="34" charset="-122"/>
                          <a:cs typeface="Courier New" pitchFamily="34" charset="-120"/>
                        </a:rPr>
                        <a:t>/api/bookings/:id</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Cancel a booking</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Owner / Admin</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r>
              <a:tr h="365760">
                <a:tc>
                  <a:txBody>
                    <a:bodyPr/>
                    <a:lstStyle/>
                    <a:p>
                      <a:pPr indent="0" marL="0">
                        <a:buNone/>
                      </a:pPr>
                      <a:r>
                        <a:rPr lang="en-US" sz="1300" b="1" dirty="0">
                          <a:solidFill>
                            <a:srgbClr val="1F2A24"/>
                          </a:solidFill>
                        </a:rPr>
                        <a:t>GET</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latin typeface="Courier New" pitchFamily="34" charset="0"/>
                          <a:ea typeface="Courier New" pitchFamily="34" charset="-122"/>
                          <a:cs typeface="Courier New" pitchFamily="34" charset="-120"/>
                        </a:rPr>
                        <a:t>/api/admin/stats</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Members, occupancy, revenue</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C2453D"/>
                          </a:solidFill>
                        </a:rPr>
                        <a:t>Admin</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7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Every booking passes four server-side checks</a:t>
            </a:r>
            <a:endParaRPr lang="en-US" sz="3000" dirty="0"/>
          </a:p>
        </p:txBody>
      </p:sp>
      <p:sp>
        <p:nvSpPr>
          <p:cNvPr id="3" name="Step 1"/>
          <p:cNvSpPr/>
          <p:nvPr/>
        </p:nvSpPr>
        <p:spPr>
          <a:xfrm>
            <a:off x="548640" y="1463040"/>
            <a:ext cx="1673352" cy="3108960"/>
          </a:xfrm>
          <a:prstGeom prst="roundRect">
            <a:avLst>
              <a:gd name="adj" fmla="val 6557"/>
            </a:avLst>
          </a:prstGeom>
          <a:solidFill>
            <a:schemeClr val="bg2"/>
          </a:solidFill>
          <a:ln/>
        </p:spPr>
      </p:sp>
      <p:sp>
        <p:nvSpPr>
          <p:cNvPr id="4" name="Step 1 number"/>
          <p:cNvSpPr/>
          <p:nvPr/>
        </p:nvSpPr>
        <p:spPr>
          <a:xfrm>
            <a:off x="1065276" y="1691640"/>
            <a:ext cx="640080" cy="640080"/>
          </a:xfrm>
          <a:prstGeom prst="ellipse">
            <a:avLst/>
          </a:prstGeom>
          <a:solidFill>
            <a:schemeClr val="accent1"/>
          </a:solidFill>
          <a:ln/>
        </p:spPr>
      </p:sp>
      <p:sp>
        <p:nvSpPr>
          <p:cNvPr id="5" name="Text 3"/>
          <p:cNvSpPr txBox="1"/>
          <p:nvPr/>
        </p:nvSpPr>
        <p:spPr>
          <a:xfrm>
            <a:off x="1065276" y="169164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Text 4"/>
          <p:cNvSpPr txBox="1"/>
          <p:nvPr/>
        </p:nvSpPr>
        <p:spPr>
          <a:xfrm>
            <a:off x="685800" y="2514600"/>
            <a:ext cx="1399032" cy="731520"/>
          </a:xfrm>
          <a:prstGeom prst="rect">
            <a:avLst/>
          </a:prstGeom>
          <a:noFill/>
          <a:ln/>
        </p:spPr>
        <p:txBody>
          <a:bodyPr wrap="square" lIns="0" tIns="0" rIns="0" bIns="0" rtlCol="0" anchor="ctr"/>
          <a:lstStyle/>
          <a:p>
            <a:pPr algn="ctr" indent="0" marL="0">
              <a:buNone/>
            </a:pPr>
            <a:r>
              <a:rPr lang="en-US" sz="1600" b="1" dirty="0">
                <a:solidFill>
                  <a:schemeClr val="tx1"/>
                </a:solidFill>
              </a:rPr>
              <a:t>Member clicks “Book now”</a:t>
            </a:r>
            <a:endParaRPr lang="en-US" sz="1600" dirty="0"/>
          </a:p>
        </p:txBody>
      </p:sp>
      <p:sp>
        <p:nvSpPr>
          <p:cNvPr id="7" name="Text 5"/>
          <p:cNvSpPr txBox="1"/>
          <p:nvPr/>
        </p:nvSpPr>
        <p:spPr>
          <a:xfrm>
            <a:off x="685800" y="3291840"/>
            <a:ext cx="1399032" cy="1097280"/>
          </a:xfrm>
          <a:prstGeom prst="rect">
            <a:avLst/>
          </a:prstGeom>
          <a:noFill/>
          <a:ln/>
        </p:spPr>
        <p:txBody>
          <a:bodyPr wrap="square" lIns="0" tIns="0" rIns="0" bIns="0" rtlCol="0" anchor="t"/>
          <a:lstStyle/>
          <a:p>
            <a:pPr algn="ctr" indent="0" marL="0">
              <a:buNone/>
            </a:pPr>
            <a:r>
              <a:rPr lang="en-US" sz="1300" dirty="0">
                <a:solidFill>
                  <a:schemeClr val="tx2"/>
                </a:solidFill>
              </a:rPr>
              <a:t>React sends POST /api/bookings with the JWT</a:t>
            </a:r>
            <a:endParaRPr lang="en-US" sz="1300" dirty="0"/>
          </a:p>
        </p:txBody>
      </p:sp>
      <p:sp>
        <p:nvSpPr>
          <p:cNvPr id="8" name="Step 2"/>
          <p:cNvSpPr/>
          <p:nvPr/>
        </p:nvSpPr>
        <p:spPr>
          <a:xfrm>
            <a:off x="2404872" y="1463040"/>
            <a:ext cx="1673352" cy="3108960"/>
          </a:xfrm>
          <a:prstGeom prst="roundRect">
            <a:avLst>
              <a:gd name="adj" fmla="val 6557"/>
            </a:avLst>
          </a:prstGeom>
          <a:solidFill>
            <a:schemeClr val="bg2"/>
          </a:solidFill>
          <a:ln/>
        </p:spPr>
      </p:sp>
      <p:sp>
        <p:nvSpPr>
          <p:cNvPr id="9" name="Step 2 number"/>
          <p:cNvSpPr/>
          <p:nvPr/>
        </p:nvSpPr>
        <p:spPr>
          <a:xfrm>
            <a:off x="2921508" y="1691640"/>
            <a:ext cx="640080" cy="640080"/>
          </a:xfrm>
          <a:prstGeom prst="ellipse">
            <a:avLst/>
          </a:prstGeom>
          <a:solidFill>
            <a:schemeClr val="accent1"/>
          </a:solidFill>
          <a:ln/>
        </p:spPr>
      </p:sp>
      <p:sp>
        <p:nvSpPr>
          <p:cNvPr id="10" name="Text 8"/>
          <p:cNvSpPr txBox="1"/>
          <p:nvPr/>
        </p:nvSpPr>
        <p:spPr>
          <a:xfrm>
            <a:off x="2921508" y="169164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1" name="Text 9"/>
          <p:cNvSpPr txBox="1"/>
          <p:nvPr/>
        </p:nvSpPr>
        <p:spPr>
          <a:xfrm>
            <a:off x="2542032" y="2514600"/>
            <a:ext cx="1399032" cy="731520"/>
          </a:xfrm>
          <a:prstGeom prst="rect">
            <a:avLst/>
          </a:prstGeom>
          <a:noFill/>
          <a:ln/>
        </p:spPr>
        <p:txBody>
          <a:bodyPr wrap="square" lIns="0" tIns="0" rIns="0" bIns="0" rtlCol="0" anchor="ctr"/>
          <a:lstStyle/>
          <a:p>
            <a:pPr algn="ctr" indent="0" marL="0">
              <a:buNone/>
            </a:pPr>
            <a:r>
              <a:rPr lang="en-US" sz="1600" b="1" dirty="0">
                <a:solidFill>
                  <a:schemeClr val="tx1"/>
                </a:solidFill>
              </a:rPr>
              <a:t>Logged in?</a:t>
            </a:r>
            <a:endParaRPr lang="en-US" sz="1600" dirty="0"/>
          </a:p>
        </p:txBody>
      </p:sp>
      <p:sp>
        <p:nvSpPr>
          <p:cNvPr id="12" name="Text 10"/>
          <p:cNvSpPr txBox="1"/>
          <p:nvPr/>
        </p:nvSpPr>
        <p:spPr>
          <a:xfrm>
            <a:off x="2542032" y="3291840"/>
            <a:ext cx="1399032" cy="1097280"/>
          </a:xfrm>
          <a:prstGeom prst="rect">
            <a:avLst/>
          </a:prstGeom>
          <a:noFill/>
          <a:ln/>
        </p:spPr>
        <p:txBody>
          <a:bodyPr wrap="square" lIns="0" tIns="0" rIns="0" bIns="0" rtlCol="0" anchor="t"/>
          <a:lstStyle/>
          <a:p>
            <a:pPr algn="ctr" indent="0" marL="0">
              <a:buNone/>
            </a:pPr>
            <a:r>
              <a:rPr lang="en-US" sz="1300" dirty="0">
                <a:solidFill>
                  <a:schemeClr val="tx2"/>
                </a:solidFill>
              </a:rPr>
              <a:t>JWT verified and user loaded</a:t>
            </a:r>
            <a:endParaRPr lang="en-US" sz="1300" dirty="0"/>
          </a:p>
        </p:txBody>
      </p:sp>
      <p:sp>
        <p:nvSpPr>
          <p:cNvPr id="13" name="Step 2 status"/>
          <p:cNvSpPr/>
          <p:nvPr/>
        </p:nvSpPr>
        <p:spPr>
          <a:xfrm>
            <a:off x="2587752" y="4800600"/>
            <a:ext cx="1307592" cy="457200"/>
          </a:xfrm>
          <a:prstGeom prst="roundRect">
            <a:avLst>
              <a:gd name="adj" fmla="val 50000"/>
            </a:avLst>
          </a:prstGeom>
          <a:solidFill>
            <a:schemeClr val="accent4"/>
          </a:solidFill>
          <a:ln/>
        </p:spPr>
      </p:sp>
      <p:sp>
        <p:nvSpPr>
          <p:cNvPr id="14" name="Text 12"/>
          <p:cNvSpPr txBox="1"/>
          <p:nvPr/>
        </p:nvSpPr>
        <p:spPr>
          <a:xfrm>
            <a:off x="2587752" y="4800600"/>
            <a:ext cx="1307592" cy="457200"/>
          </a:xfrm>
          <a:prstGeom prst="rect">
            <a:avLst/>
          </a:prstGeom>
          <a:noFill/>
          <a:ln/>
        </p:spPr>
        <p:txBody>
          <a:bodyPr wrap="square" lIns="0" tIns="0" rIns="0" bIns="0" rtlCol="0" anchor="ctr"/>
          <a:lstStyle/>
          <a:p>
            <a:pPr algn="ctr" indent="0" marL="0">
              <a:buNone/>
            </a:pPr>
            <a:r>
              <a:rPr lang="en-US" sz="1400" b="1" dirty="0">
                <a:solidFill>
                  <a:schemeClr val="bg1"/>
                </a:solidFill>
              </a:rPr>
              <a:t>else 401</a:t>
            </a:r>
            <a:endParaRPr lang="en-US" sz="1400" dirty="0"/>
          </a:p>
        </p:txBody>
      </p:sp>
      <p:sp>
        <p:nvSpPr>
          <p:cNvPr id="15" name="Step 3"/>
          <p:cNvSpPr/>
          <p:nvPr/>
        </p:nvSpPr>
        <p:spPr>
          <a:xfrm>
            <a:off x="4261104" y="1463040"/>
            <a:ext cx="1673352" cy="3108960"/>
          </a:xfrm>
          <a:prstGeom prst="roundRect">
            <a:avLst>
              <a:gd name="adj" fmla="val 6557"/>
            </a:avLst>
          </a:prstGeom>
          <a:solidFill>
            <a:schemeClr val="bg2"/>
          </a:solidFill>
          <a:ln/>
        </p:spPr>
      </p:sp>
      <p:sp>
        <p:nvSpPr>
          <p:cNvPr id="16" name="Step 3 number"/>
          <p:cNvSpPr/>
          <p:nvPr/>
        </p:nvSpPr>
        <p:spPr>
          <a:xfrm>
            <a:off x="4777740" y="1691640"/>
            <a:ext cx="640080" cy="640080"/>
          </a:xfrm>
          <a:prstGeom prst="ellipse">
            <a:avLst/>
          </a:prstGeom>
          <a:solidFill>
            <a:schemeClr val="accent1"/>
          </a:solidFill>
          <a:ln/>
        </p:spPr>
      </p:sp>
      <p:sp>
        <p:nvSpPr>
          <p:cNvPr id="17" name="Text 15"/>
          <p:cNvSpPr txBox="1"/>
          <p:nvPr/>
        </p:nvSpPr>
        <p:spPr>
          <a:xfrm>
            <a:off x="4777740" y="169164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8" name="Text 16"/>
          <p:cNvSpPr txBox="1"/>
          <p:nvPr/>
        </p:nvSpPr>
        <p:spPr>
          <a:xfrm>
            <a:off x="4398264" y="2514600"/>
            <a:ext cx="1399032" cy="731520"/>
          </a:xfrm>
          <a:prstGeom prst="rect">
            <a:avLst/>
          </a:prstGeom>
          <a:noFill/>
          <a:ln/>
        </p:spPr>
        <p:txBody>
          <a:bodyPr wrap="square" lIns="0" tIns="0" rIns="0" bIns="0" rtlCol="0" anchor="ctr"/>
          <a:lstStyle/>
          <a:p>
            <a:pPr algn="ctr" indent="0" marL="0">
              <a:buNone/>
            </a:pPr>
            <a:r>
              <a:rPr lang="en-US" sz="1600" b="1" dirty="0">
                <a:solidFill>
                  <a:schemeClr val="tx1"/>
                </a:solidFill>
              </a:rPr>
              <a:t>Class started?</a:t>
            </a:r>
            <a:endParaRPr lang="en-US" sz="1600" dirty="0"/>
          </a:p>
        </p:txBody>
      </p:sp>
      <p:sp>
        <p:nvSpPr>
          <p:cNvPr id="19" name="Text 17"/>
          <p:cNvSpPr txBox="1"/>
          <p:nvPr/>
        </p:nvSpPr>
        <p:spPr>
          <a:xfrm>
            <a:off x="4398264" y="3291840"/>
            <a:ext cx="1399032" cy="1097280"/>
          </a:xfrm>
          <a:prstGeom prst="rect">
            <a:avLst/>
          </a:prstGeom>
          <a:noFill/>
          <a:ln/>
        </p:spPr>
        <p:txBody>
          <a:bodyPr wrap="square" lIns="0" tIns="0" rIns="0" bIns="0" rtlCol="0" anchor="t"/>
          <a:lstStyle/>
          <a:p>
            <a:pPr algn="ctr" indent="0" marL="0">
              <a:buNone/>
            </a:pPr>
            <a:r>
              <a:rPr lang="en-US" sz="1300" dirty="0">
                <a:solidFill>
                  <a:schemeClr val="tx2"/>
                </a:solidFill>
              </a:rPr>
              <a:t>Start time compared with now</a:t>
            </a:r>
            <a:endParaRPr lang="en-US" sz="1300" dirty="0"/>
          </a:p>
        </p:txBody>
      </p:sp>
      <p:sp>
        <p:nvSpPr>
          <p:cNvPr id="20" name="Step 3 status"/>
          <p:cNvSpPr/>
          <p:nvPr/>
        </p:nvSpPr>
        <p:spPr>
          <a:xfrm>
            <a:off x="4443984" y="4800600"/>
            <a:ext cx="1307592" cy="457200"/>
          </a:xfrm>
          <a:prstGeom prst="roundRect">
            <a:avLst>
              <a:gd name="adj" fmla="val 50000"/>
            </a:avLst>
          </a:prstGeom>
          <a:solidFill>
            <a:schemeClr val="accent4"/>
          </a:solidFill>
          <a:ln/>
        </p:spPr>
      </p:sp>
      <p:sp>
        <p:nvSpPr>
          <p:cNvPr id="21" name="Text 19"/>
          <p:cNvSpPr txBox="1"/>
          <p:nvPr/>
        </p:nvSpPr>
        <p:spPr>
          <a:xfrm>
            <a:off x="4443984" y="4800600"/>
            <a:ext cx="1307592" cy="457200"/>
          </a:xfrm>
          <a:prstGeom prst="rect">
            <a:avLst/>
          </a:prstGeom>
          <a:noFill/>
          <a:ln/>
        </p:spPr>
        <p:txBody>
          <a:bodyPr wrap="square" lIns="0" tIns="0" rIns="0" bIns="0" rtlCol="0" anchor="ctr"/>
          <a:lstStyle/>
          <a:p>
            <a:pPr algn="ctr" indent="0" marL="0">
              <a:buNone/>
            </a:pPr>
            <a:r>
              <a:rPr lang="en-US" sz="1400" b="1" dirty="0">
                <a:solidFill>
                  <a:schemeClr val="bg1"/>
                </a:solidFill>
              </a:rPr>
              <a:t>else 400</a:t>
            </a:r>
            <a:endParaRPr lang="en-US" sz="1400" dirty="0"/>
          </a:p>
        </p:txBody>
      </p:sp>
      <p:sp>
        <p:nvSpPr>
          <p:cNvPr id="22" name="Step 4"/>
          <p:cNvSpPr/>
          <p:nvPr/>
        </p:nvSpPr>
        <p:spPr>
          <a:xfrm>
            <a:off x="6117336" y="1463040"/>
            <a:ext cx="1673352" cy="3108960"/>
          </a:xfrm>
          <a:prstGeom prst="roundRect">
            <a:avLst>
              <a:gd name="adj" fmla="val 6557"/>
            </a:avLst>
          </a:prstGeom>
          <a:solidFill>
            <a:schemeClr val="bg2"/>
          </a:solidFill>
          <a:ln/>
        </p:spPr>
      </p:sp>
      <p:sp>
        <p:nvSpPr>
          <p:cNvPr id="23" name="Step 4 number"/>
          <p:cNvSpPr/>
          <p:nvPr/>
        </p:nvSpPr>
        <p:spPr>
          <a:xfrm>
            <a:off x="6633972" y="1691640"/>
            <a:ext cx="640080" cy="640080"/>
          </a:xfrm>
          <a:prstGeom prst="ellipse">
            <a:avLst/>
          </a:prstGeom>
          <a:solidFill>
            <a:schemeClr val="accent1"/>
          </a:solidFill>
          <a:ln/>
        </p:spPr>
      </p:sp>
      <p:sp>
        <p:nvSpPr>
          <p:cNvPr id="24" name="Text 22"/>
          <p:cNvSpPr txBox="1"/>
          <p:nvPr/>
        </p:nvSpPr>
        <p:spPr>
          <a:xfrm>
            <a:off x="6633972" y="169164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5" name="Text 23"/>
          <p:cNvSpPr txBox="1"/>
          <p:nvPr/>
        </p:nvSpPr>
        <p:spPr>
          <a:xfrm>
            <a:off x="6254496" y="2514600"/>
            <a:ext cx="1399032" cy="731520"/>
          </a:xfrm>
          <a:prstGeom prst="rect">
            <a:avLst/>
          </a:prstGeom>
          <a:noFill/>
          <a:ln/>
        </p:spPr>
        <p:txBody>
          <a:bodyPr wrap="square" lIns="0" tIns="0" rIns="0" bIns="0" rtlCol="0" anchor="ctr"/>
          <a:lstStyle/>
          <a:p>
            <a:pPr algn="ctr" indent="0" marL="0">
              <a:buNone/>
            </a:pPr>
            <a:r>
              <a:rPr lang="en-US" sz="1600" b="1" dirty="0">
                <a:solidFill>
                  <a:schemeClr val="tx1"/>
                </a:solidFill>
              </a:rPr>
              <a:t>Already booked?</a:t>
            </a:r>
            <a:endParaRPr lang="en-US" sz="1600" dirty="0"/>
          </a:p>
        </p:txBody>
      </p:sp>
      <p:sp>
        <p:nvSpPr>
          <p:cNvPr id="26" name="Text 24"/>
          <p:cNvSpPr txBox="1"/>
          <p:nvPr/>
        </p:nvSpPr>
        <p:spPr>
          <a:xfrm>
            <a:off x="6254496" y="3291840"/>
            <a:ext cx="1399032" cy="1097280"/>
          </a:xfrm>
          <a:prstGeom prst="rect">
            <a:avLst/>
          </a:prstGeom>
          <a:noFill/>
          <a:ln/>
        </p:spPr>
        <p:txBody>
          <a:bodyPr wrap="square" lIns="0" tIns="0" rIns="0" bIns="0" rtlCol="0" anchor="t"/>
          <a:lstStyle/>
          <a:p>
            <a:pPr algn="ctr" indent="0" marL="0">
              <a:buNone/>
            </a:pPr>
            <a:r>
              <a:rPr lang="en-US" sz="1300" dirty="0">
                <a:solidFill>
                  <a:schemeClr val="tx2"/>
                </a:solidFill>
              </a:rPr>
              <a:t>Existing confirmed booking found</a:t>
            </a:r>
            <a:endParaRPr lang="en-US" sz="1300" dirty="0"/>
          </a:p>
        </p:txBody>
      </p:sp>
      <p:sp>
        <p:nvSpPr>
          <p:cNvPr id="27" name="Step 4 status"/>
          <p:cNvSpPr/>
          <p:nvPr/>
        </p:nvSpPr>
        <p:spPr>
          <a:xfrm>
            <a:off x="6300216" y="4800600"/>
            <a:ext cx="1307592" cy="457200"/>
          </a:xfrm>
          <a:prstGeom prst="roundRect">
            <a:avLst>
              <a:gd name="adj" fmla="val 50000"/>
            </a:avLst>
          </a:prstGeom>
          <a:solidFill>
            <a:schemeClr val="accent4"/>
          </a:solidFill>
          <a:ln/>
        </p:spPr>
      </p:sp>
      <p:sp>
        <p:nvSpPr>
          <p:cNvPr id="28" name="Text 26"/>
          <p:cNvSpPr txBox="1"/>
          <p:nvPr/>
        </p:nvSpPr>
        <p:spPr>
          <a:xfrm>
            <a:off x="6300216" y="4800600"/>
            <a:ext cx="1307592" cy="457200"/>
          </a:xfrm>
          <a:prstGeom prst="rect">
            <a:avLst/>
          </a:prstGeom>
          <a:noFill/>
          <a:ln/>
        </p:spPr>
        <p:txBody>
          <a:bodyPr wrap="square" lIns="0" tIns="0" rIns="0" bIns="0" rtlCol="0" anchor="ctr"/>
          <a:lstStyle/>
          <a:p>
            <a:pPr algn="ctr" indent="0" marL="0">
              <a:buNone/>
            </a:pPr>
            <a:r>
              <a:rPr lang="en-US" sz="1400" b="1" dirty="0">
                <a:solidFill>
                  <a:schemeClr val="bg1"/>
                </a:solidFill>
              </a:rPr>
              <a:t>else 409</a:t>
            </a:r>
            <a:endParaRPr lang="en-US" sz="1400" dirty="0"/>
          </a:p>
        </p:txBody>
      </p:sp>
      <p:sp>
        <p:nvSpPr>
          <p:cNvPr id="29" name="Step 5"/>
          <p:cNvSpPr/>
          <p:nvPr/>
        </p:nvSpPr>
        <p:spPr>
          <a:xfrm>
            <a:off x="7973568" y="1463040"/>
            <a:ext cx="1673352" cy="3108960"/>
          </a:xfrm>
          <a:prstGeom prst="roundRect">
            <a:avLst>
              <a:gd name="adj" fmla="val 6557"/>
            </a:avLst>
          </a:prstGeom>
          <a:solidFill>
            <a:schemeClr val="bg2"/>
          </a:solidFill>
          <a:ln/>
        </p:spPr>
      </p:sp>
      <p:sp>
        <p:nvSpPr>
          <p:cNvPr id="30" name="Step 5 number"/>
          <p:cNvSpPr/>
          <p:nvPr/>
        </p:nvSpPr>
        <p:spPr>
          <a:xfrm>
            <a:off x="8490204" y="1691640"/>
            <a:ext cx="640080" cy="640080"/>
          </a:xfrm>
          <a:prstGeom prst="ellipse">
            <a:avLst/>
          </a:prstGeom>
          <a:solidFill>
            <a:schemeClr val="accent1"/>
          </a:solidFill>
          <a:ln/>
        </p:spPr>
      </p:sp>
      <p:sp>
        <p:nvSpPr>
          <p:cNvPr id="31" name="Text 29"/>
          <p:cNvSpPr txBox="1"/>
          <p:nvPr/>
        </p:nvSpPr>
        <p:spPr>
          <a:xfrm>
            <a:off x="8490204" y="169164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32" name="Text 30"/>
          <p:cNvSpPr txBox="1"/>
          <p:nvPr/>
        </p:nvSpPr>
        <p:spPr>
          <a:xfrm>
            <a:off x="8110728" y="2514600"/>
            <a:ext cx="1399032" cy="731520"/>
          </a:xfrm>
          <a:prstGeom prst="rect">
            <a:avLst/>
          </a:prstGeom>
          <a:noFill/>
          <a:ln/>
        </p:spPr>
        <p:txBody>
          <a:bodyPr wrap="square" lIns="0" tIns="0" rIns="0" bIns="0" rtlCol="0" anchor="ctr"/>
          <a:lstStyle/>
          <a:p>
            <a:pPr algn="ctr" indent="0" marL="0">
              <a:buNone/>
            </a:pPr>
            <a:r>
              <a:rPr lang="en-US" sz="1600" b="1" dirty="0">
                <a:solidFill>
                  <a:schemeClr val="tx1"/>
                </a:solidFill>
              </a:rPr>
              <a:t>Class full?</a:t>
            </a:r>
            <a:endParaRPr lang="en-US" sz="1600" dirty="0"/>
          </a:p>
        </p:txBody>
      </p:sp>
      <p:sp>
        <p:nvSpPr>
          <p:cNvPr id="33" name="Text 31"/>
          <p:cNvSpPr txBox="1"/>
          <p:nvPr/>
        </p:nvSpPr>
        <p:spPr>
          <a:xfrm>
            <a:off x="8110728" y="3291840"/>
            <a:ext cx="1399032" cy="1097280"/>
          </a:xfrm>
          <a:prstGeom prst="rect">
            <a:avLst/>
          </a:prstGeom>
          <a:noFill/>
          <a:ln/>
        </p:spPr>
        <p:txBody>
          <a:bodyPr wrap="square" lIns="0" tIns="0" rIns="0" bIns="0" rtlCol="0" anchor="t"/>
          <a:lstStyle/>
          <a:p>
            <a:pPr algn="ctr" indent="0" marL="0">
              <a:buNone/>
            </a:pPr>
            <a:r>
              <a:rPr lang="en-US" sz="1300" dirty="0">
                <a:solidFill>
                  <a:schemeClr val="tx2"/>
                </a:solidFill>
              </a:rPr>
              <a:t>Confirmed count ≥ capacity</a:t>
            </a:r>
            <a:endParaRPr lang="en-US" sz="1300" dirty="0"/>
          </a:p>
        </p:txBody>
      </p:sp>
      <p:sp>
        <p:nvSpPr>
          <p:cNvPr id="34" name="Step 5 status"/>
          <p:cNvSpPr/>
          <p:nvPr/>
        </p:nvSpPr>
        <p:spPr>
          <a:xfrm>
            <a:off x="8156448" y="4800600"/>
            <a:ext cx="1307592" cy="457200"/>
          </a:xfrm>
          <a:prstGeom prst="roundRect">
            <a:avLst>
              <a:gd name="adj" fmla="val 50000"/>
            </a:avLst>
          </a:prstGeom>
          <a:solidFill>
            <a:schemeClr val="accent4"/>
          </a:solidFill>
          <a:ln/>
        </p:spPr>
      </p:sp>
      <p:sp>
        <p:nvSpPr>
          <p:cNvPr id="35" name="Text 33"/>
          <p:cNvSpPr txBox="1"/>
          <p:nvPr/>
        </p:nvSpPr>
        <p:spPr>
          <a:xfrm>
            <a:off x="8156448" y="4800600"/>
            <a:ext cx="1307592" cy="457200"/>
          </a:xfrm>
          <a:prstGeom prst="rect">
            <a:avLst/>
          </a:prstGeom>
          <a:noFill/>
          <a:ln/>
        </p:spPr>
        <p:txBody>
          <a:bodyPr wrap="square" lIns="0" tIns="0" rIns="0" bIns="0" rtlCol="0" anchor="ctr"/>
          <a:lstStyle/>
          <a:p>
            <a:pPr algn="ctr" indent="0" marL="0">
              <a:buNone/>
            </a:pPr>
            <a:r>
              <a:rPr lang="en-US" sz="1400" b="1" dirty="0">
                <a:solidFill>
                  <a:schemeClr val="bg1"/>
                </a:solidFill>
              </a:rPr>
              <a:t>else 409</a:t>
            </a:r>
            <a:endParaRPr lang="en-US" sz="1400" dirty="0"/>
          </a:p>
        </p:txBody>
      </p:sp>
      <p:sp>
        <p:nvSpPr>
          <p:cNvPr id="36" name="Step 6"/>
          <p:cNvSpPr/>
          <p:nvPr/>
        </p:nvSpPr>
        <p:spPr>
          <a:xfrm>
            <a:off x="9829800" y="1463040"/>
            <a:ext cx="1673352" cy="3108960"/>
          </a:xfrm>
          <a:prstGeom prst="roundRect">
            <a:avLst>
              <a:gd name="adj" fmla="val 6557"/>
            </a:avLst>
          </a:prstGeom>
          <a:solidFill>
            <a:schemeClr val="accent1"/>
          </a:solidFill>
          <a:ln/>
        </p:spPr>
      </p:sp>
      <p:sp>
        <p:nvSpPr>
          <p:cNvPr id="37" name="Step 6 number"/>
          <p:cNvSpPr/>
          <p:nvPr/>
        </p:nvSpPr>
        <p:spPr>
          <a:xfrm>
            <a:off x="10346436" y="1691640"/>
            <a:ext cx="640080" cy="640080"/>
          </a:xfrm>
          <a:prstGeom prst="ellipse">
            <a:avLst/>
          </a:prstGeom>
          <a:solidFill>
            <a:schemeClr val="bg1"/>
          </a:solidFill>
          <a:ln/>
        </p:spPr>
      </p:sp>
      <p:sp>
        <p:nvSpPr>
          <p:cNvPr id="38" name="Text 36"/>
          <p:cNvSpPr txBox="1"/>
          <p:nvPr/>
        </p:nvSpPr>
        <p:spPr>
          <a:xfrm>
            <a:off x="10346436" y="1691640"/>
            <a:ext cx="640080" cy="640080"/>
          </a:xfrm>
          <a:prstGeom prst="rect">
            <a:avLst/>
          </a:prstGeom>
          <a:noFill/>
          <a:ln/>
        </p:spPr>
        <p:txBody>
          <a:bodyPr wrap="square" lIns="0" tIns="0" rIns="0" bIns="0" rtlCol="0" anchor="ctr"/>
          <a:lstStyle/>
          <a:p>
            <a:pPr algn="ctr" indent="0" marL="0">
              <a:buNone/>
            </a:pPr>
            <a:r>
              <a:rPr lang="en-US" sz="2200" b="1" dirty="0">
                <a:solidFill>
                  <a:schemeClr val="accent1"/>
                </a:solidFill>
              </a:rPr>
              <a:t>6</a:t>
            </a:r>
            <a:endParaRPr lang="en-US" sz="2200" dirty="0"/>
          </a:p>
        </p:txBody>
      </p:sp>
      <p:sp>
        <p:nvSpPr>
          <p:cNvPr id="39" name="Text 37"/>
          <p:cNvSpPr txBox="1"/>
          <p:nvPr/>
        </p:nvSpPr>
        <p:spPr>
          <a:xfrm>
            <a:off x="9966960" y="2514600"/>
            <a:ext cx="1399032" cy="731520"/>
          </a:xfrm>
          <a:prstGeom prst="rect">
            <a:avLst/>
          </a:prstGeom>
          <a:noFill/>
          <a:ln/>
        </p:spPr>
        <p:txBody>
          <a:bodyPr wrap="square" lIns="0" tIns="0" rIns="0" bIns="0" rtlCol="0" anchor="ctr"/>
          <a:lstStyle/>
          <a:p>
            <a:pPr algn="ctr" indent="0" marL="0">
              <a:buNone/>
            </a:pPr>
            <a:r>
              <a:rPr lang="en-US" sz="1600" b="1" dirty="0">
                <a:solidFill>
                  <a:schemeClr val="bg1"/>
                </a:solidFill>
              </a:rPr>
              <a:t>Booking saved</a:t>
            </a:r>
            <a:endParaRPr lang="en-US" sz="1600" dirty="0"/>
          </a:p>
        </p:txBody>
      </p:sp>
      <p:sp>
        <p:nvSpPr>
          <p:cNvPr id="40" name="Text 38"/>
          <p:cNvSpPr txBox="1"/>
          <p:nvPr/>
        </p:nvSpPr>
        <p:spPr>
          <a:xfrm>
            <a:off x="9966960" y="3291840"/>
            <a:ext cx="1399032" cy="1097280"/>
          </a:xfrm>
          <a:prstGeom prst="rect">
            <a:avLst/>
          </a:prstGeom>
          <a:noFill/>
          <a:ln/>
        </p:spPr>
        <p:txBody>
          <a:bodyPr wrap="square" lIns="0" tIns="0" rIns="0" bIns="0" rtlCol="0" anchor="t"/>
          <a:lstStyle/>
          <a:p>
            <a:pPr algn="ctr" indent="0" marL="0">
              <a:buNone/>
            </a:pPr>
            <a:r>
              <a:rPr lang="en-US" sz="1300" dirty="0">
                <a:solidFill>
                  <a:schemeClr val="bg1"/>
                </a:solidFill>
              </a:rPr>
              <a:t>Document written; spots left drops by 1</a:t>
            </a:r>
            <a:endParaRPr lang="en-US" sz="1300" dirty="0"/>
          </a:p>
        </p:txBody>
      </p:sp>
      <p:sp>
        <p:nvSpPr>
          <p:cNvPr id="41" name="Step 6 status"/>
          <p:cNvSpPr/>
          <p:nvPr/>
        </p:nvSpPr>
        <p:spPr>
          <a:xfrm>
            <a:off x="10012680" y="4800600"/>
            <a:ext cx="1307592" cy="457200"/>
          </a:xfrm>
          <a:prstGeom prst="roundRect">
            <a:avLst>
              <a:gd name="adj" fmla="val 50000"/>
            </a:avLst>
          </a:prstGeom>
          <a:solidFill>
            <a:schemeClr val="accent6"/>
          </a:solidFill>
          <a:ln/>
        </p:spPr>
      </p:sp>
      <p:sp>
        <p:nvSpPr>
          <p:cNvPr id="42" name="Text 40"/>
          <p:cNvSpPr txBox="1"/>
          <p:nvPr/>
        </p:nvSpPr>
        <p:spPr>
          <a:xfrm>
            <a:off x="10012680" y="4800600"/>
            <a:ext cx="1307592" cy="457200"/>
          </a:xfrm>
          <a:prstGeom prst="rect">
            <a:avLst/>
          </a:prstGeom>
          <a:noFill/>
          <a:ln/>
        </p:spPr>
        <p:txBody>
          <a:bodyPr wrap="square" lIns="0" tIns="0" rIns="0" bIns="0" rtlCol="0" anchor="ctr"/>
          <a:lstStyle/>
          <a:p>
            <a:pPr algn="ctr" indent="0" marL="0">
              <a:buNone/>
            </a:pPr>
            <a:r>
              <a:rPr lang="en-US" sz="1400" b="1" dirty="0">
                <a:solidFill>
                  <a:schemeClr val="bg1"/>
                </a:solidFill>
              </a:rPr>
              <a:t>201 Created</a:t>
            </a:r>
            <a:endParaRPr lang="en-US" sz="1400" dirty="0"/>
          </a:p>
        </p:txBody>
      </p:sp>
      <p:sp>
        <p:nvSpPr>
          <p:cNvPr id="43" name="Text 41"/>
          <p:cNvSpPr txBox="1"/>
          <p:nvPr/>
        </p:nvSpPr>
        <p:spPr>
          <a:xfrm>
            <a:off x="548640" y="5577840"/>
            <a:ext cx="11094415" cy="457200"/>
          </a:xfrm>
          <a:prstGeom prst="rect">
            <a:avLst/>
          </a:prstGeom>
          <a:noFill/>
          <a:ln/>
        </p:spPr>
        <p:txBody>
          <a:bodyPr wrap="square" lIns="0" tIns="0" rIns="0" bIns="0" rtlCol="0" anchor="t"/>
          <a:lstStyle/>
          <a:p>
            <a:pPr indent="0" marL="0">
              <a:buNone/>
            </a:pPr>
            <a:r>
              <a:rPr lang="en-US" sz="1500" i="1" dirty="0">
                <a:solidFill>
                  <a:schemeClr val="tx2"/>
                </a:solidFill>
              </a:rPr>
              <a:t>The React page then reloads the class list, so the new seat count and the “✓ Booked” badge appear immediately.</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7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Inputs are validated twice: in the browser and on the server</a:t>
            </a:r>
            <a:endParaRPr lang="en-US" sz="3000" dirty="0"/>
          </a:p>
        </p:txBody>
      </p:sp>
      <p:sp>
        <p:nvSpPr>
          <p:cNvPr id="3" name="Validation 1"/>
          <p:cNvSpPr/>
          <p:nvPr/>
        </p:nvSpPr>
        <p:spPr>
          <a:xfrm>
            <a:off x="548640" y="1371600"/>
            <a:ext cx="5394960" cy="3429000"/>
          </a:xfrm>
          <a:prstGeom prst="roundRect">
            <a:avLst>
              <a:gd name="adj" fmla="val 3200"/>
            </a:avLst>
          </a:prstGeom>
          <a:solidFill>
            <a:schemeClr val="bg2"/>
          </a:solidFill>
          <a:ln/>
        </p:spPr>
      </p:sp>
      <p:sp>
        <p:nvSpPr>
          <p:cNvPr id="4" name="Validation 1 circle"/>
          <p:cNvSpPr/>
          <p:nvPr/>
        </p:nvSpPr>
        <p:spPr>
          <a:xfrm>
            <a:off x="822960" y="1600200"/>
            <a:ext cx="594360" cy="594360"/>
          </a:xfrm>
          <a:prstGeom prst="ellipse">
            <a:avLst/>
          </a:prstGeom>
          <a:solidFill>
            <a:schemeClr val="accent1"/>
          </a:solidFill>
          <a:ln/>
        </p:spPr>
      </p:sp>
      <p:pic>
        <p:nvPicPr>
          <p:cNvPr id="5" name="Validation 1 icon" descr="preencoded.png">    </p:cNvPr>
          <p:cNvPicPr>
            <a:picLocks noChangeAspect="1"/>
          </p:cNvPicPr>
          <p:nvPr/>
        </p:nvPicPr>
        <p:blipFill>
          <a:blip r:embed="rId1"/>
          <a:stretch>
            <a:fillRect/>
          </a:stretch>
        </p:blipFill>
        <p:spPr>
          <a:xfrm>
            <a:off x="971550" y="1748790"/>
            <a:ext cx="297180" cy="297180"/>
          </a:xfrm>
          <a:prstGeom prst="rect">
            <a:avLst/>
          </a:prstGeom>
        </p:spPr>
      </p:pic>
      <p:sp>
        <p:nvSpPr>
          <p:cNvPr id="6" name="Text 3"/>
          <p:cNvSpPr txBox="1"/>
          <p:nvPr/>
        </p:nvSpPr>
        <p:spPr>
          <a:xfrm>
            <a:off x="1600200" y="1600200"/>
            <a:ext cx="4114800" cy="594360"/>
          </a:xfrm>
          <a:prstGeom prst="rect">
            <a:avLst/>
          </a:prstGeom>
          <a:noFill/>
          <a:ln/>
        </p:spPr>
        <p:txBody>
          <a:bodyPr wrap="square" lIns="0" tIns="0" rIns="0" bIns="0" rtlCol="0" anchor="ctr"/>
          <a:lstStyle/>
          <a:p>
            <a:pPr indent="0" marL="0">
              <a:buNone/>
            </a:pPr>
            <a:r>
              <a:rPr lang="en-US" sz="1800" b="1" dirty="0">
                <a:solidFill>
                  <a:schemeClr val="tx1"/>
                </a:solidFill>
              </a:rPr>
              <a:t>Client-side (React forms)</a:t>
            </a:r>
            <a:endParaRPr lang="en-US" sz="1800" dirty="0"/>
          </a:p>
        </p:txBody>
      </p:sp>
      <p:sp>
        <p:nvSpPr>
          <p:cNvPr id="7" name="Text 4"/>
          <p:cNvSpPr txBox="1"/>
          <p:nvPr/>
        </p:nvSpPr>
        <p:spPr>
          <a:xfrm>
            <a:off x="868680" y="2377440"/>
            <a:ext cx="4846320" cy="237744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Required fields; type="email" and type="date" inputs</a:t>
            </a:r>
            <a:endParaRPr lang="en-US" sz="1400" dirty="0"/>
          </a:p>
          <a:p>
            <a:pPr marL="190500" indent="-190500">
              <a:spcAft>
                <a:spcPts val="600"/>
              </a:spcAft>
              <a:buSzPct val="100000"/>
              <a:buChar char="•"/>
            </a:pPr>
            <a:r>
              <a:rPr lang="en-US" sz="1400" dirty="0">
                <a:solidFill>
                  <a:schemeClr val="tx1"/>
                </a:solidFill>
              </a:rPr>
              <a:t>Password at least 6 characters; confirm password must match</a:t>
            </a:r>
            <a:endParaRPr lang="en-US" sz="1400" dirty="0"/>
          </a:p>
          <a:p>
            <a:pPr marL="190500" indent="-190500">
              <a:spcAft>
                <a:spcPts val="600"/>
              </a:spcAft>
              <a:buSzPct val="100000"/>
              <a:buChar char="•"/>
            </a:pPr>
            <a:r>
              <a:rPr lang="en-US" sz="1400" dirty="0">
                <a:solidFill>
                  <a:schemeClr val="tx1"/>
                </a:solidFill>
              </a:rPr>
              <a:t>Dates cannot be in the past (min = today)</a:t>
            </a:r>
            <a:endParaRPr lang="en-US" sz="1400" dirty="0"/>
          </a:p>
          <a:p>
            <a:pPr marL="190500" indent="-190500">
              <a:spcAft>
                <a:spcPts val="600"/>
              </a:spcAft>
              <a:buSzPct val="100000"/>
              <a:buChar char="•"/>
            </a:pPr>
            <a:r>
              <a:rPr lang="en-US" sz="1400" dirty="0">
                <a:solidFill>
                  <a:schemeClr val="tx1"/>
                </a:solidFill>
              </a:rPr>
              <a:t>Number inputs with min values for capacity, price, duration</a:t>
            </a:r>
            <a:endParaRPr lang="en-US" sz="1400" dirty="0"/>
          </a:p>
          <a:p>
            <a:pPr marL="190500" indent="-190500">
              <a:spcAft>
                <a:spcPts val="600"/>
              </a:spcAft>
              <a:buSzPct val="100000"/>
              <a:buChar char="•"/>
            </a:pPr>
            <a:r>
              <a:rPr lang="en-US" sz="1400" dirty="0">
                <a:solidFill>
                  <a:schemeClr val="tx1"/>
                </a:solidFill>
              </a:rPr>
              <a:t>Buttons disabled while a request is in progress</a:t>
            </a:r>
            <a:endParaRPr lang="en-US" sz="1400" dirty="0"/>
          </a:p>
        </p:txBody>
      </p:sp>
      <p:sp>
        <p:nvSpPr>
          <p:cNvPr id="8" name="Validation 2"/>
          <p:cNvSpPr/>
          <p:nvPr/>
        </p:nvSpPr>
        <p:spPr>
          <a:xfrm>
            <a:off x="6245352" y="1371600"/>
            <a:ext cx="5394960" cy="3429000"/>
          </a:xfrm>
          <a:prstGeom prst="roundRect">
            <a:avLst>
              <a:gd name="adj" fmla="val 3200"/>
            </a:avLst>
          </a:prstGeom>
          <a:solidFill>
            <a:schemeClr val="bg2"/>
          </a:solidFill>
          <a:ln/>
        </p:spPr>
      </p:sp>
      <p:sp>
        <p:nvSpPr>
          <p:cNvPr id="9" name="Validation 2 circle"/>
          <p:cNvSpPr/>
          <p:nvPr/>
        </p:nvSpPr>
        <p:spPr>
          <a:xfrm>
            <a:off x="6519672" y="1600200"/>
            <a:ext cx="594360" cy="594360"/>
          </a:xfrm>
          <a:prstGeom prst="ellipse">
            <a:avLst/>
          </a:prstGeom>
          <a:solidFill>
            <a:schemeClr val="accent1"/>
          </a:solidFill>
          <a:ln/>
        </p:spPr>
      </p:sp>
      <p:pic>
        <p:nvPicPr>
          <p:cNvPr id="10" name="Validation 2 icon" descr="preencoded.png">    </p:cNvPr>
          <p:cNvPicPr>
            <a:picLocks noChangeAspect="1"/>
          </p:cNvPicPr>
          <p:nvPr/>
        </p:nvPicPr>
        <p:blipFill>
          <a:blip r:embed="rId2"/>
          <a:stretch>
            <a:fillRect/>
          </a:stretch>
        </p:blipFill>
        <p:spPr>
          <a:xfrm>
            <a:off x="6668262" y="1748790"/>
            <a:ext cx="297180" cy="297180"/>
          </a:xfrm>
          <a:prstGeom prst="rect">
            <a:avLst/>
          </a:prstGeom>
        </p:spPr>
      </p:pic>
      <p:sp>
        <p:nvSpPr>
          <p:cNvPr id="11" name="Text 7"/>
          <p:cNvSpPr txBox="1"/>
          <p:nvPr/>
        </p:nvSpPr>
        <p:spPr>
          <a:xfrm>
            <a:off x="7296912" y="1600200"/>
            <a:ext cx="4114800" cy="594360"/>
          </a:xfrm>
          <a:prstGeom prst="rect">
            <a:avLst/>
          </a:prstGeom>
          <a:noFill/>
          <a:ln/>
        </p:spPr>
        <p:txBody>
          <a:bodyPr wrap="square" lIns="0" tIns="0" rIns="0" bIns="0" rtlCol="0" anchor="ctr"/>
          <a:lstStyle/>
          <a:p>
            <a:pPr indent="0" marL="0">
              <a:buNone/>
            </a:pPr>
            <a:r>
              <a:rPr lang="en-US" sz="1800" b="1" dirty="0">
                <a:solidFill>
                  <a:schemeClr val="tx1"/>
                </a:solidFill>
              </a:rPr>
              <a:t>Server-side (Express + Mongoose)</a:t>
            </a:r>
            <a:endParaRPr lang="en-US" sz="1800" dirty="0"/>
          </a:p>
        </p:txBody>
      </p:sp>
      <p:sp>
        <p:nvSpPr>
          <p:cNvPr id="12" name="Text 8"/>
          <p:cNvSpPr txBox="1"/>
          <p:nvPr/>
        </p:nvSpPr>
        <p:spPr>
          <a:xfrm>
            <a:off x="6565392" y="2377440"/>
            <a:ext cx="4846320" cy="237744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tx1"/>
                </a:solidFill>
              </a:rPr>
              <a:t>All required fields checked; email format by regex</a:t>
            </a:r>
            <a:endParaRPr lang="en-US" sz="1400" dirty="0"/>
          </a:p>
          <a:p>
            <a:pPr marL="190500" indent="-190500">
              <a:spcAft>
                <a:spcPts val="600"/>
              </a:spcAft>
              <a:buSzPct val="100000"/>
              <a:buChar char="•"/>
            </a:pPr>
            <a:r>
              <a:rPr lang="en-US" sz="1400" dirty="0">
                <a:solidFill>
                  <a:schemeClr val="tx1"/>
                </a:solidFill>
              </a:rPr>
              <a:t>Date YYYY-MM-DD and time HH:MM format checks</a:t>
            </a:r>
            <a:endParaRPr lang="en-US" sz="1400" dirty="0"/>
          </a:p>
          <a:p>
            <a:pPr marL="190500" indent="-190500">
              <a:spcAft>
                <a:spcPts val="600"/>
              </a:spcAft>
              <a:buSzPct val="100000"/>
              <a:buChar char="•"/>
            </a:pPr>
            <a:r>
              <a:rPr lang="en-US" sz="1400" dirty="0">
                <a:solidFill>
                  <a:schemeClr val="tx1"/>
                </a:solidFill>
              </a:rPr>
              <a:t>Capacity cannot drop below current bookings</a:t>
            </a:r>
            <a:endParaRPr lang="en-US" sz="1400" dirty="0"/>
          </a:p>
          <a:p>
            <a:pPr marL="190500" indent="-190500">
              <a:spcAft>
                <a:spcPts val="600"/>
              </a:spcAft>
              <a:buSzPct val="100000"/>
              <a:buChar char="•"/>
            </a:pPr>
            <a:r>
              <a:rPr lang="en-US" sz="1400" dirty="0">
                <a:solidFill>
                  <a:schemeClr val="tx1"/>
                </a:solidFill>
              </a:rPr>
              <a:t>Invalid ObjectIds rejected with 404</a:t>
            </a:r>
            <a:endParaRPr lang="en-US" sz="1400" dirty="0"/>
          </a:p>
          <a:p>
            <a:pPr marL="190500" indent="-190500">
              <a:spcAft>
                <a:spcPts val="600"/>
              </a:spcAft>
              <a:buSzPct val="100000"/>
              <a:buChar char="•"/>
            </a:pPr>
            <a:r>
              <a:rPr lang="en-US" sz="1400" dirty="0">
                <a:solidFill>
                  <a:schemeClr val="tx1"/>
                </a:solidFill>
              </a:rPr>
              <a:t>Mongoose schema rules: enums, min values, unique email</a:t>
            </a:r>
            <a:endParaRPr lang="en-US" sz="1400" dirty="0"/>
          </a:p>
        </p:txBody>
      </p:sp>
      <p:sp>
        <p:nvSpPr>
          <p:cNvPr id="13" name="Security 1"/>
          <p:cNvSpPr/>
          <p:nvPr/>
        </p:nvSpPr>
        <p:spPr>
          <a:xfrm>
            <a:off x="548640" y="5074920"/>
            <a:ext cx="2072579" cy="914400"/>
          </a:xfrm>
          <a:prstGeom prst="roundRect">
            <a:avLst>
              <a:gd name="adj" fmla="val 12000"/>
            </a:avLst>
          </a:prstGeom>
          <a:solidFill>
            <a:schemeClr val="tx2"/>
          </a:solidFill>
          <a:ln/>
        </p:spPr>
      </p:sp>
      <p:pic>
        <p:nvPicPr>
          <p:cNvPr id="14" name="Security 1 icon" descr="preencoded.png">    </p:cNvPr>
          <p:cNvPicPr>
            <a:picLocks noChangeAspect="1"/>
          </p:cNvPicPr>
          <p:nvPr/>
        </p:nvPicPr>
        <p:blipFill>
          <a:blip r:embed="rId3"/>
          <a:stretch>
            <a:fillRect/>
          </a:stretch>
        </p:blipFill>
        <p:spPr>
          <a:xfrm>
            <a:off x="685800" y="5330952"/>
            <a:ext cx="384048" cy="384048"/>
          </a:xfrm>
          <a:prstGeom prst="rect">
            <a:avLst/>
          </a:prstGeom>
        </p:spPr>
      </p:pic>
      <p:sp>
        <p:nvSpPr>
          <p:cNvPr id="15" name="Text 10"/>
          <p:cNvSpPr txBox="1"/>
          <p:nvPr/>
        </p:nvSpPr>
        <p:spPr>
          <a:xfrm>
            <a:off x="1188720" y="5074920"/>
            <a:ext cx="1341059" cy="914400"/>
          </a:xfrm>
          <a:prstGeom prst="rect">
            <a:avLst/>
          </a:prstGeom>
          <a:noFill/>
          <a:ln/>
        </p:spPr>
        <p:txBody>
          <a:bodyPr wrap="square" lIns="0" tIns="0" rIns="0" bIns="0" rtlCol="0" anchor="ctr"/>
          <a:lstStyle/>
          <a:p>
            <a:pPr indent="0" marL="0">
              <a:buNone/>
            </a:pPr>
            <a:r>
              <a:rPr lang="en-US" sz="1300" b="1" dirty="0">
                <a:solidFill>
                  <a:schemeClr val="bg1"/>
                </a:solidFill>
              </a:rPr>
              <a:t>bcrypt password hashing</a:t>
            </a:r>
            <a:endParaRPr lang="en-US" sz="1300" dirty="0"/>
          </a:p>
        </p:txBody>
      </p:sp>
      <p:sp>
        <p:nvSpPr>
          <p:cNvPr id="16" name="Security 2"/>
          <p:cNvSpPr/>
          <p:nvPr/>
        </p:nvSpPr>
        <p:spPr>
          <a:xfrm>
            <a:off x="2804099" y="5074920"/>
            <a:ext cx="2072579" cy="914400"/>
          </a:xfrm>
          <a:prstGeom prst="roundRect">
            <a:avLst>
              <a:gd name="adj" fmla="val 12000"/>
            </a:avLst>
          </a:prstGeom>
          <a:solidFill>
            <a:schemeClr val="tx2"/>
          </a:solidFill>
          <a:ln/>
        </p:spPr>
      </p:sp>
      <p:pic>
        <p:nvPicPr>
          <p:cNvPr id="17" name="Security 2 icon" descr="preencoded.png">    </p:cNvPr>
          <p:cNvPicPr>
            <a:picLocks noChangeAspect="1"/>
          </p:cNvPicPr>
          <p:nvPr/>
        </p:nvPicPr>
        <p:blipFill>
          <a:blip r:embed="rId4"/>
          <a:stretch>
            <a:fillRect/>
          </a:stretch>
        </p:blipFill>
        <p:spPr>
          <a:xfrm>
            <a:off x="2941259" y="5330952"/>
            <a:ext cx="384048" cy="384048"/>
          </a:xfrm>
          <a:prstGeom prst="rect">
            <a:avLst/>
          </a:prstGeom>
        </p:spPr>
      </p:pic>
      <p:sp>
        <p:nvSpPr>
          <p:cNvPr id="18" name="Text 12"/>
          <p:cNvSpPr txBox="1"/>
          <p:nvPr/>
        </p:nvSpPr>
        <p:spPr>
          <a:xfrm>
            <a:off x="3444179" y="5074920"/>
            <a:ext cx="1341059" cy="914400"/>
          </a:xfrm>
          <a:prstGeom prst="rect">
            <a:avLst/>
          </a:prstGeom>
          <a:noFill/>
          <a:ln/>
        </p:spPr>
        <p:txBody>
          <a:bodyPr wrap="square" lIns="0" tIns="0" rIns="0" bIns="0" rtlCol="0" anchor="ctr"/>
          <a:lstStyle/>
          <a:p>
            <a:pPr indent="0" marL="0">
              <a:buNone/>
            </a:pPr>
            <a:r>
              <a:rPr lang="en-US" sz="1300" b="1" dirty="0">
                <a:solidFill>
                  <a:schemeClr val="bg1"/>
                </a:solidFill>
              </a:rPr>
              <a:t>JWT sessions (7-day expiry)</a:t>
            </a:r>
            <a:endParaRPr lang="en-US" sz="1300" dirty="0"/>
          </a:p>
        </p:txBody>
      </p:sp>
      <p:sp>
        <p:nvSpPr>
          <p:cNvPr id="19" name="Security 3"/>
          <p:cNvSpPr/>
          <p:nvPr/>
        </p:nvSpPr>
        <p:spPr>
          <a:xfrm>
            <a:off x="5059558" y="5074920"/>
            <a:ext cx="2072579" cy="914400"/>
          </a:xfrm>
          <a:prstGeom prst="roundRect">
            <a:avLst>
              <a:gd name="adj" fmla="val 12000"/>
            </a:avLst>
          </a:prstGeom>
          <a:solidFill>
            <a:schemeClr val="tx2"/>
          </a:solidFill>
          <a:ln/>
        </p:spPr>
      </p:sp>
      <p:pic>
        <p:nvPicPr>
          <p:cNvPr id="20" name="Security 3 icon" descr="preencoded.png">    </p:cNvPr>
          <p:cNvPicPr>
            <a:picLocks noChangeAspect="1"/>
          </p:cNvPicPr>
          <p:nvPr/>
        </p:nvPicPr>
        <p:blipFill>
          <a:blip r:embed="rId5"/>
          <a:stretch>
            <a:fillRect/>
          </a:stretch>
        </p:blipFill>
        <p:spPr>
          <a:xfrm>
            <a:off x="5196718" y="5330952"/>
            <a:ext cx="384048" cy="384048"/>
          </a:xfrm>
          <a:prstGeom prst="rect">
            <a:avLst/>
          </a:prstGeom>
        </p:spPr>
      </p:pic>
      <p:sp>
        <p:nvSpPr>
          <p:cNvPr id="21" name="Text 14"/>
          <p:cNvSpPr txBox="1"/>
          <p:nvPr/>
        </p:nvSpPr>
        <p:spPr>
          <a:xfrm>
            <a:off x="5699638" y="5074920"/>
            <a:ext cx="1341059" cy="914400"/>
          </a:xfrm>
          <a:prstGeom prst="rect">
            <a:avLst/>
          </a:prstGeom>
          <a:noFill/>
          <a:ln/>
        </p:spPr>
        <p:txBody>
          <a:bodyPr wrap="square" lIns="0" tIns="0" rIns="0" bIns="0" rtlCol="0" anchor="ctr"/>
          <a:lstStyle/>
          <a:p>
            <a:pPr indent="0" marL="0">
              <a:buNone/>
            </a:pPr>
            <a:r>
              <a:rPr lang="en-US" sz="1300" b="1" dirty="0">
                <a:solidFill>
                  <a:schemeClr val="bg1"/>
                </a:solidFill>
              </a:rPr>
              <a:t>Role-based admin routes</a:t>
            </a:r>
            <a:endParaRPr lang="en-US" sz="1300" dirty="0"/>
          </a:p>
        </p:txBody>
      </p:sp>
      <p:sp>
        <p:nvSpPr>
          <p:cNvPr id="22" name="Security 4"/>
          <p:cNvSpPr/>
          <p:nvPr/>
        </p:nvSpPr>
        <p:spPr>
          <a:xfrm>
            <a:off x="7315017" y="5074920"/>
            <a:ext cx="2072579" cy="914400"/>
          </a:xfrm>
          <a:prstGeom prst="roundRect">
            <a:avLst>
              <a:gd name="adj" fmla="val 12000"/>
            </a:avLst>
          </a:prstGeom>
          <a:solidFill>
            <a:schemeClr val="tx2"/>
          </a:solidFill>
          <a:ln/>
        </p:spPr>
      </p:sp>
      <p:pic>
        <p:nvPicPr>
          <p:cNvPr id="23" name="Security 4 icon" descr="preencoded.png">    </p:cNvPr>
          <p:cNvPicPr>
            <a:picLocks noChangeAspect="1"/>
          </p:cNvPicPr>
          <p:nvPr/>
        </p:nvPicPr>
        <p:blipFill>
          <a:blip r:embed="rId6"/>
          <a:stretch>
            <a:fillRect/>
          </a:stretch>
        </p:blipFill>
        <p:spPr>
          <a:xfrm>
            <a:off x="7452177" y="5330952"/>
            <a:ext cx="384048" cy="384048"/>
          </a:xfrm>
          <a:prstGeom prst="rect">
            <a:avLst/>
          </a:prstGeom>
        </p:spPr>
      </p:pic>
      <p:sp>
        <p:nvSpPr>
          <p:cNvPr id="24" name="Text 16"/>
          <p:cNvSpPr txBox="1"/>
          <p:nvPr/>
        </p:nvSpPr>
        <p:spPr>
          <a:xfrm>
            <a:off x="7955097" y="5074920"/>
            <a:ext cx="1341059" cy="914400"/>
          </a:xfrm>
          <a:prstGeom prst="rect">
            <a:avLst/>
          </a:prstGeom>
          <a:noFill/>
          <a:ln/>
        </p:spPr>
        <p:txBody>
          <a:bodyPr wrap="square" lIns="0" tIns="0" rIns="0" bIns="0" rtlCol="0" anchor="ctr"/>
          <a:lstStyle/>
          <a:p>
            <a:pPr indent="0" marL="0">
              <a:buNone/>
            </a:pPr>
            <a:r>
              <a:rPr lang="en-US" sz="1300" b="1" dirty="0">
                <a:solidFill>
                  <a:schemeClr val="bg1"/>
                </a:solidFill>
              </a:rPr>
              <a:t>Secrets kept in .env</a:t>
            </a:r>
            <a:endParaRPr lang="en-US" sz="1300" dirty="0"/>
          </a:p>
        </p:txBody>
      </p:sp>
      <p:sp>
        <p:nvSpPr>
          <p:cNvPr id="25" name="Security 5"/>
          <p:cNvSpPr/>
          <p:nvPr/>
        </p:nvSpPr>
        <p:spPr>
          <a:xfrm>
            <a:off x="9570476" y="5074920"/>
            <a:ext cx="2072579" cy="914400"/>
          </a:xfrm>
          <a:prstGeom prst="roundRect">
            <a:avLst>
              <a:gd name="adj" fmla="val 12000"/>
            </a:avLst>
          </a:prstGeom>
          <a:solidFill>
            <a:schemeClr val="tx2"/>
          </a:solidFill>
          <a:ln/>
        </p:spPr>
      </p:sp>
      <p:pic>
        <p:nvPicPr>
          <p:cNvPr id="26" name="Security 5 icon" descr="preencoded.png">    </p:cNvPr>
          <p:cNvPicPr>
            <a:picLocks noChangeAspect="1"/>
          </p:cNvPicPr>
          <p:nvPr/>
        </p:nvPicPr>
        <p:blipFill>
          <a:blip r:embed="rId7"/>
          <a:stretch>
            <a:fillRect/>
          </a:stretch>
        </p:blipFill>
        <p:spPr>
          <a:xfrm>
            <a:off x="9707636" y="5330952"/>
            <a:ext cx="384048" cy="384048"/>
          </a:xfrm>
          <a:prstGeom prst="rect">
            <a:avLst/>
          </a:prstGeom>
        </p:spPr>
      </p:pic>
      <p:sp>
        <p:nvSpPr>
          <p:cNvPr id="27" name="Text 18"/>
          <p:cNvSpPr txBox="1"/>
          <p:nvPr/>
        </p:nvSpPr>
        <p:spPr>
          <a:xfrm>
            <a:off x="10210556" y="5074920"/>
            <a:ext cx="1341059" cy="914400"/>
          </a:xfrm>
          <a:prstGeom prst="rect">
            <a:avLst/>
          </a:prstGeom>
          <a:noFill/>
          <a:ln/>
        </p:spPr>
        <p:txBody>
          <a:bodyPr wrap="square" lIns="0" tIns="0" rIns="0" bIns="0" rtlCol="0" anchor="ctr"/>
          <a:lstStyle/>
          <a:p>
            <a:pPr indent="0" marL="0">
              <a:buNone/>
            </a:pPr>
            <a:r>
              <a:rPr lang="en-US" sz="1300" b="1" dirty="0">
                <a:solidFill>
                  <a:schemeClr val="bg1"/>
                </a:solidFill>
              </a:rPr>
              <a:t>Password hash never sent to client</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7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The interface: schedule, booking and administration</a:t>
            </a:r>
            <a:endParaRPr lang="en-US" sz="3000" dirty="0"/>
          </a:p>
        </p:txBody>
      </p:sp>
      <p:pic>
        <p:nvPicPr>
          <p:cNvPr id="3" name="Home" descr="Home">    </p:cNvPr>
          <p:cNvPicPr>
            <a:picLocks noChangeAspect="1"/>
          </p:cNvPicPr>
          <p:nvPr/>
        </p:nvPicPr>
        <p:blipFill>
          <a:blip r:embed="rId1"/>
          <a:stretch>
            <a:fillRect/>
          </a:stretch>
        </p:blipFill>
        <p:spPr>
          <a:xfrm>
            <a:off x="548640" y="1280160"/>
            <a:ext cx="3502152" cy="2079403"/>
          </a:xfrm>
          <a:prstGeom prst="rect">
            <a:avLst/>
          </a:prstGeom>
          <a:effectLst>
            <a:outerShdw sx="100000" sy="100000" kx="0" ky="0" algn="bl" rotWithShape="0" blurRad="76200" dist="25400" dir="5400000">
              <a:srgbClr val="1F2A24">
                <a:alpha val="18000"/>
              </a:srgbClr>
            </a:outerShdw>
          </a:effectLst>
        </p:spPr>
      </p:pic>
      <p:sp>
        <p:nvSpPr>
          <p:cNvPr id="4" name="Text 1"/>
          <p:cNvSpPr txBox="1"/>
          <p:nvPr/>
        </p:nvSpPr>
        <p:spPr>
          <a:xfrm>
            <a:off x="548640" y="3432715"/>
            <a:ext cx="3502152" cy="274320"/>
          </a:xfrm>
          <a:prstGeom prst="rect">
            <a:avLst/>
          </a:prstGeom>
          <a:noFill/>
          <a:ln/>
        </p:spPr>
        <p:txBody>
          <a:bodyPr wrap="square" lIns="0" tIns="0" rIns="0" bIns="0" rtlCol="0" anchor="t"/>
          <a:lstStyle/>
          <a:p>
            <a:pPr algn="ctr" indent="0" marL="0">
              <a:buNone/>
            </a:pPr>
            <a:r>
              <a:rPr lang="en-US" sz="1200" dirty="0">
                <a:solidFill>
                  <a:schemeClr val="accent5"/>
                </a:solidFill>
              </a:rPr>
              <a:t>Home</a:t>
            </a:r>
            <a:endParaRPr lang="en-US" sz="1200" dirty="0"/>
          </a:p>
        </p:txBody>
      </p:sp>
      <p:pic>
        <p:nvPicPr>
          <p:cNvPr id="5" name="Class schedule with filters" descr="Class schedule with filters">    </p:cNvPr>
          <p:cNvPicPr>
            <a:picLocks noChangeAspect="1"/>
          </p:cNvPicPr>
          <p:nvPr/>
        </p:nvPicPr>
        <p:blipFill>
          <a:blip r:embed="rId2"/>
          <a:stretch>
            <a:fillRect/>
          </a:stretch>
        </p:blipFill>
        <p:spPr>
          <a:xfrm>
            <a:off x="4325112" y="1280160"/>
            <a:ext cx="3502152" cy="2079403"/>
          </a:xfrm>
          <a:prstGeom prst="rect">
            <a:avLst/>
          </a:prstGeom>
          <a:effectLst>
            <a:outerShdw sx="100000" sy="100000" kx="0" ky="0" algn="bl" rotWithShape="0" blurRad="76200" dist="25400" dir="5400000">
              <a:srgbClr val="1F2A24">
                <a:alpha val="18000"/>
              </a:srgbClr>
            </a:outerShdw>
          </a:effectLst>
        </p:spPr>
      </p:pic>
      <p:sp>
        <p:nvSpPr>
          <p:cNvPr id="6" name="Text 2"/>
          <p:cNvSpPr txBox="1"/>
          <p:nvPr/>
        </p:nvSpPr>
        <p:spPr>
          <a:xfrm>
            <a:off x="4325112" y="3432715"/>
            <a:ext cx="3502152" cy="274320"/>
          </a:xfrm>
          <a:prstGeom prst="rect">
            <a:avLst/>
          </a:prstGeom>
          <a:noFill/>
          <a:ln/>
        </p:spPr>
        <p:txBody>
          <a:bodyPr wrap="square" lIns="0" tIns="0" rIns="0" bIns="0" rtlCol="0" anchor="t"/>
          <a:lstStyle/>
          <a:p>
            <a:pPr algn="ctr" indent="0" marL="0">
              <a:buNone/>
            </a:pPr>
            <a:r>
              <a:rPr lang="en-US" sz="1200" dirty="0">
                <a:solidFill>
                  <a:schemeClr val="accent5"/>
                </a:solidFill>
              </a:rPr>
              <a:t>Class schedule with filters</a:t>
            </a:r>
            <a:endParaRPr lang="en-US" sz="1200" dirty="0"/>
          </a:p>
        </p:txBody>
      </p:sp>
      <p:pic>
        <p:nvPicPr>
          <p:cNvPr id="7" name="Class details and booking" descr="Class details and booking">    </p:cNvPr>
          <p:cNvPicPr>
            <a:picLocks noChangeAspect="1"/>
          </p:cNvPicPr>
          <p:nvPr/>
        </p:nvPicPr>
        <p:blipFill>
          <a:blip r:embed="rId3"/>
          <a:stretch>
            <a:fillRect/>
          </a:stretch>
        </p:blipFill>
        <p:spPr>
          <a:xfrm>
            <a:off x="8101584" y="1280160"/>
            <a:ext cx="3502152" cy="2079403"/>
          </a:xfrm>
          <a:prstGeom prst="rect">
            <a:avLst/>
          </a:prstGeom>
          <a:effectLst>
            <a:outerShdw sx="100000" sy="100000" kx="0" ky="0" algn="bl" rotWithShape="0" blurRad="76200" dist="25400" dir="5400000">
              <a:srgbClr val="1F2A24">
                <a:alpha val="18000"/>
              </a:srgbClr>
            </a:outerShdw>
          </a:effectLst>
        </p:spPr>
      </p:pic>
      <p:sp>
        <p:nvSpPr>
          <p:cNvPr id="8" name="Text 3"/>
          <p:cNvSpPr txBox="1"/>
          <p:nvPr/>
        </p:nvSpPr>
        <p:spPr>
          <a:xfrm>
            <a:off x="8101584" y="3432715"/>
            <a:ext cx="3502152" cy="274320"/>
          </a:xfrm>
          <a:prstGeom prst="rect">
            <a:avLst/>
          </a:prstGeom>
          <a:noFill/>
          <a:ln/>
        </p:spPr>
        <p:txBody>
          <a:bodyPr wrap="square" lIns="0" tIns="0" rIns="0" bIns="0" rtlCol="0" anchor="t"/>
          <a:lstStyle/>
          <a:p>
            <a:pPr algn="ctr" indent="0" marL="0">
              <a:buNone/>
            </a:pPr>
            <a:r>
              <a:rPr lang="en-US" sz="1200" dirty="0">
                <a:solidFill>
                  <a:schemeClr val="accent5"/>
                </a:solidFill>
              </a:rPr>
              <a:t>Class details and booking</a:t>
            </a:r>
            <a:endParaRPr lang="en-US" sz="1200" dirty="0"/>
          </a:p>
        </p:txBody>
      </p:sp>
      <p:pic>
        <p:nvPicPr>
          <p:cNvPr id="9" name="Login with demo accounts" descr="Login with demo accounts">    </p:cNvPr>
          <p:cNvPicPr>
            <a:picLocks noChangeAspect="1"/>
          </p:cNvPicPr>
          <p:nvPr/>
        </p:nvPicPr>
        <p:blipFill>
          <a:blip r:embed="rId4"/>
          <a:stretch>
            <a:fillRect/>
          </a:stretch>
        </p:blipFill>
        <p:spPr>
          <a:xfrm>
            <a:off x="548640" y="3794760"/>
            <a:ext cx="3502152" cy="2079403"/>
          </a:xfrm>
          <a:prstGeom prst="rect">
            <a:avLst/>
          </a:prstGeom>
          <a:effectLst>
            <a:outerShdw sx="100000" sy="100000" kx="0" ky="0" algn="bl" rotWithShape="0" blurRad="76200" dist="25400" dir="5400000">
              <a:srgbClr val="1F2A24">
                <a:alpha val="18000"/>
              </a:srgbClr>
            </a:outerShdw>
          </a:effectLst>
        </p:spPr>
      </p:pic>
      <p:sp>
        <p:nvSpPr>
          <p:cNvPr id="10" name="Text 4"/>
          <p:cNvSpPr txBox="1"/>
          <p:nvPr/>
        </p:nvSpPr>
        <p:spPr>
          <a:xfrm>
            <a:off x="548640" y="5947315"/>
            <a:ext cx="3502152" cy="274320"/>
          </a:xfrm>
          <a:prstGeom prst="rect">
            <a:avLst/>
          </a:prstGeom>
          <a:noFill/>
          <a:ln/>
        </p:spPr>
        <p:txBody>
          <a:bodyPr wrap="square" lIns="0" tIns="0" rIns="0" bIns="0" rtlCol="0" anchor="t"/>
          <a:lstStyle/>
          <a:p>
            <a:pPr algn="ctr" indent="0" marL="0">
              <a:buNone/>
            </a:pPr>
            <a:r>
              <a:rPr lang="en-US" sz="1200" dirty="0">
                <a:solidFill>
                  <a:schemeClr val="accent5"/>
                </a:solidFill>
              </a:rPr>
              <a:t>Login with demo accounts</a:t>
            </a:r>
            <a:endParaRPr lang="en-US" sz="1200" dirty="0"/>
          </a:p>
        </p:txBody>
      </p:sp>
      <p:pic>
        <p:nvPicPr>
          <p:cNvPr id="11" name="My bookings (member)" descr="My bookings (member)">    </p:cNvPr>
          <p:cNvPicPr>
            <a:picLocks noChangeAspect="1"/>
          </p:cNvPicPr>
          <p:nvPr/>
        </p:nvPicPr>
        <p:blipFill>
          <a:blip r:embed="rId5"/>
          <a:stretch>
            <a:fillRect/>
          </a:stretch>
        </p:blipFill>
        <p:spPr>
          <a:xfrm>
            <a:off x="4325112" y="3794760"/>
            <a:ext cx="3502152" cy="2079403"/>
          </a:xfrm>
          <a:prstGeom prst="rect">
            <a:avLst/>
          </a:prstGeom>
          <a:effectLst>
            <a:outerShdw sx="100000" sy="100000" kx="0" ky="0" algn="bl" rotWithShape="0" blurRad="76200" dist="25400" dir="5400000">
              <a:srgbClr val="1F2A24">
                <a:alpha val="18000"/>
              </a:srgbClr>
            </a:outerShdw>
          </a:effectLst>
        </p:spPr>
      </p:pic>
      <p:sp>
        <p:nvSpPr>
          <p:cNvPr id="12" name="Text 5"/>
          <p:cNvSpPr txBox="1"/>
          <p:nvPr/>
        </p:nvSpPr>
        <p:spPr>
          <a:xfrm>
            <a:off x="4325112" y="5947315"/>
            <a:ext cx="3502152" cy="274320"/>
          </a:xfrm>
          <a:prstGeom prst="rect">
            <a:avLst/>
          </a:prstGeom>
          <a:noFill/>
          <a:ln/>
        </p:spPr>
        <p:txBody>
          <a:bodyPr wrap="square" lIns="0" tIns="0" rIns="0" bIns="0" rtlCol="0" anchor="t"/>
          <a:lstStyle/>
          <a:p>
            <a:pPr algn="ctr" indent="0" marL="0">
              <a:buNone/>
            </a:pPr>
            <a:r>
              <a:rPr lang="en-US" sz="1200" dirty="0">
                <a:solidFill>
                  <a:schemeClr val="accent5"/>
                </a:solidFill>
              </a:rPr>
              <a:t>My bookings (member)</a:t>
            </a:r>
            <a:endParaRPr lang="en-US" sz="1200" dirty="0"/>
          </a:p>
        </p:txBody>
      </p:sp>
      <p:pic>
        <p:nvPicPr>
          <p:cNvPr id="13" name="Admin dashboard" descr="Admin dashboard">    </p:cNvPr>
          <p:cNvPicPr>
            <a:picLocks noChangeAspect="1"/>
          </p:cNvPicPr>
          <p:nvPr/>
        </p:nvPicPr>
        <p:blipFill>
          <a:blip r:embed="rId6"/>
          <a:stretch>
            <a:fillRect/>
          </a:stretch>
        </p:blipFill>
        <p:spPr>
          <a:xfrm>
            <a:off x="8101584" y="3794760"/>
            <a:ext cx="3502152" cy="2079403"/>
          </a:xfrm>
          <a:prstGeom prst="rect">
            <a:avLst/>
          </a:prstGeom>
          <a:effectLst>
            <a:outerShdw sx="100000" sy="100000" kx="0" ky="0" algn="bl" rotWithShape="0" blurRad="76200" dist="25400" dir="5400000">
              <a:srgbClr val="1F2A24">
                <a:alpha val="18000"/>
              </a:srgbClr>
            </a:outerShdw>
          </a:effectLst>
        </p:spPr>
      </p:pic>
      <p:sp>
        <p:nvSpPr>
          <p:cNvPr id="14" name="Text 6"/>
          <p:cNvSpPr txBox="1"/>
          <p:nvPr/>
        </p:nvSpPr>
        <p:spPr>
          <a:xfrm>
            <a:off x="8101584" y="5947315"/>
            <a:ext cx="3502152" cy="274320"/>
          </a:xfrm>
          <a:prstGeom prst="rect">
            <a:avLst/>
          </a:prstGeom>
          <a:noFill/>
          <a:ln/>
        </p:spPr>
        <p:txBody>
          <a:bodyPr wrap="square" lIns="0" tIns="0" rIns="0" bIns="0" rtlCol="0" anchor="t"/>
          <a:lstStyle/>
          <a:p>
            <a:pPr algn="ctr" indent="0" marL="0">
              <a:buNone/>
            </a:pPr>
            <a:r>
              <a:rPr lang="en-US" sz="1200" dirty="0">
                <a:solidFill>
                  <a:schemeClr val="accent5"/>
                </a:solidFill>
              </a:rPr>
              <a:t>Admin dashboard</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7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Data is stored in MongoDB Atlas</a:t>
            </a:r>
            <a:endParaRPr lang="en-US" sz="3000" dirty="0"/>
          </a:p>
        </p:txBody>
      </p:sp>
      <p:sp>
        <p:nvSpPr>
          <p:cNvPr id="3" name="Stat class documents"/>
          <p:cNvSpPr/>
          <p:nvPr/>
        </p:nvSpPr>
        <p:spPr>
          <a:xfrm>
            <a:off x="548640" y="1371600"/>
            <a:ext cx="3291840" cy="1371600"/>
          </a:xfrm>
          <a:prstGeom prst="roundRect">
            <a:avLst>
              <a:gd name="adj" fmla="val 8000"/>
            </a:avLst>
          </a:prstGeom>
          <a:solidFill>
            <a:schemeClr val="bg2"/>
          </a:solidFill>
          <a:ln/>
        </p:spPr>
      </p:sp>
      <p:sp>
        <p:nvSpPr>
          <p:cNvPr id="4" name="Text 2"/>
          <p:cNvSpPr txBox="1"/>
          <p:nvPr/>
        </p:nvSpPr>
        <p:spPr>
          <a:xfrm>
            <a:off x="822960" y="1463040"/>
            <a:ext cx="2743200" cy="7772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48</a:t>
            </a:r>
            <a:endParaRPr lang="en-US" sz="4800" dirty="0"/>
          </a:p>
        </p:txBody>
      </p:sp>
      <p:sp>
        <p:nvSpPr>
          <p:cNvPr id="5" name="Text 3"/>
          <p:cNvSpPr txBox="1"/>
          <p:nvPr/>
        </p:nvSpPr>
        <p:spPr>
          <a:xfrm>
            <a:off x="822960" y="2240280"/>
            <a:ext cx="2743200" cy="365760"/>
          </a:xfrm>
          <a:prstGeom prst="rect">
            <a:avLst/>
          </a:prstGeom>
          <a:noFill/>
          <a:ln/>
        </p:spPr>
        <p:txBody>
          <a:bodyPr wrap="square" lIns="0" tIns="0" rIns="0" bIns="0" rtlCol="0" anchor="t"/>
          <a:lstStyle/>
          <a:p>
            <a:pPr indent="0" marL="0">
              <a:buNone/>
            </a:pPr>
            <a:r>
              <a:rPr lang="en-US" sz="1500" dirty="0">
                <a:solidFill>
                  <a:schemeClr val="tx2"/>
                </a:solidFill>
              </a:rPr>
              <a:t>class documents</a:t>
            </a:r>
            <a:endParaRPr lang="en-US" sz="1500" dirty="0"/>
          </a:p>
        </p:txBody>
      </p:sp>
      <p:sp>
        <p:nvSpPr>
          <p:cNvPr id="6" name="Stat collections"/>
          <p:cNvSpPr/>
          <p:nvPr/>
        </p:nvSpPr>
        <p:spPr>
          <a:xfrm>
            <a:off x="548640" y="2971800"/>
            <a:ext cx="3291840" cy="1371600"/>
          </a:xfrm>
          <a:prstGeom prst="roundRect">
            <a:avLst>
              <a:gd name="adj" fmla="val 8000"/>
            </a:avLst>
          </a:prstGeom>
          <a:solidFill>
            <a:schemeClr val="bg2"/>
          </a:solidFill>
          <a:ln/>
        </p:spPr>
      </p:sp>
      <p:sp>
        <p:nvSpPr>
          <p:cNvPr id="7" name="Text 5"/>
          <p:cNvSpPr txBox="1"/>
          <p:nvPr/>
        </p:nvSpPr>
        <p:spPr>
          <a:xfrm>
            <a:off x="822960" y="3063240"/>
            <a:ext cx="2743200" cy="7772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3</a:t>
            </a:r>
            <a:endParaRPr lang="en-US" sz="4800" dirty="0"/>
          </a:p>
        </p:txBody>
      </p:sp>
      <p:sp>
        <p:nvSpPr>
          <p:cNvPr id="8" name="Text 6"/>
          <p:cNvSpPr txBox="1"/>
          <p:nvPr/>
        </p:nvSpPr>
        <p:spPr>
          <a:xfrm>
            <a:off x="822960" y="3840480"/>
            <a:ext cx="2743200" cy="365760"/>
          </a:xfrm>
          <a:prstGeom prst="rect">
            <a:avLst/>
          </a:prstGeom>
          <a:noFill/>
          <a:ln/>
        </p:spPr>
        <p:txBody>
          <a:bodyPr wrap="square" lIns="0" tIns="0" rIns="0" bIns="0" rtlCol="0" anchor="t"/>
          <a:lstStyle/>
          <a:p>
            <a:pPr indent="0" marL="0">
              <a:buNone/>
            </a:pPr>
            <a:r>
              <a:rPr lang="en-US" sz="1500" dirty="0">
                <a:solidFill>
                  <a:schemeClr val="tx2"/>
                </a:solidFill>
              </a:rPr>
              <a:t>collections</a:t>
            </a:r>
            <a:endParaRPr lang="en-US" sz="1500" dirty="0"/>
          </a:p>
        </p:txBody>
      </p:sp>
      <p:sp>
        <p:nvSpPr>
          <p:cNvPr id="9" name="Stat cloud database"/>
          <p:cNvSpPr/>
          <p:nvPr/>
        </p:nvSpPr>
        <p:spPr>
          <a:xfrm>
            <a:off x="548640" y="4572000"/>
            <a:ext cx="3291840" cy="1371600"/>
          </a:xfrm>
          <a:prstGeom prst="roundRect">
            <a:avLst>
              <a:gd name="adj" fmla="val 8000"/>
            </a:avLst>
          </a:prstGeom>
          <a:solidFill>
            <a:schemeClr val="bg2"/>
          </a:solidFill>
          <a:ln/>
        </p:spPr>
      </p:sp>
      <p:sp>
        <p:nvSpPr>
          <p:cNvPr id="10" name="Text 8"/>
          <p:cNvSpPr txBox="1"/>
          <p:nvPr/>
        </p:nvSpPr>
        <p:spPr>
          <a:xfrm>
            <a:off x="822960" y="4663440"/>
            <a:ext cx="2743200" cy="7772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a:t>
            </a:r>
            <a:endParaRPr lang="en-US" sz="4800" dirty="0"/>
          </a:p>
        </p:txBody>
      </p:sp>
      <p:sp>
        <p:nvSpPr>
          <p:cNvPr id="11" name="Text 9"/>
          <p:cNvSpPr txBox="1"/>
          <p:nvPr/>
        </p:nvSpPr>
        <p:spPr>
          <a:xfrm>
            <a:off x="822960" y="5440680"/>
            <a:ext cx="2743200" cy="365760"/>
          </a:xfrm>
          <a:prstGeom prst="rect">
            <a:avLst/>
          </a:prstGeom>
          <a:noFill/>
          <a:ln/>
        </p:spPr>
        <p:txBody>
          <a:bodyPr wrap="square" lIns="0" tIns="0" rIns="0" bIns="0" rtlCol="0" anchor="t"/>
          <a:lstStyle/>
          <a:p>
            <a:pPr indent="0" marL="0">
              <a:buNone/>
            </a:pPr>
            <a:r>
              <a:rPr lang="en-US" sz="1500" dirty="0">
                <a:solidFill>
                  <a:schemeClr val="tx2"/>
                </a:solidFill>
              </a:rPr>
              <a:t>cloud database</a:t>
            </a:r>
            <a:endParaRPr lang="en-US" sz="1500" dirty="0"/>
          </a:p>
        </p:txBody>
      </p:sp>
      <p:pic>
        <p:nvPicPr>
          <p:cNvPr id="12" name="users and bookings documents" descr="users and bookings documents">    </p:cNvPr>
          <p:cNvPicPr>
            <a:picLocks noChangeAspect="1"/>
          </p:cNvPicPr>
          <p:nvPr/>
        </p:nvPicPr>
        <p:blipFill>
          <a:blip r:embed="rId1"/>
          <a:stretch>
            <a:fillRect/>
          </a:stretch>
        </p:blipFill>
        <p:spPr>
          <a:xfrm>
            <a:off x="5039094" y="1371600"/>
            <a:ext cx="5679666" cy="2165373"/>
          </a:xfrm>
          <a:prstGeom prst="rect">
            <a:avLst/>
          </a:prstGeom>
          <a:effectLst>
            <a:outerShdw sx="100000" sy="100000" kx="0" ky="0" algn="bl" rotWithShape="0" blurRad="76200" dist="25400" dir="5400000">
              <a:srgbClr val="1F2A24">
                <a:alpha val="18000"/>
              </a:srgbClr>
            </a:outerShdw>
          </a:effectLst>
        </p:spPr>
      </p:pic>
      <p:pic>
        <p:nvPicPr>
          <p:cNvPr id="13" name="yogaclasses documents" descr="yogaclasses documents">    </p:cNvPr>
          <p:cNvPicPr>
            <a:picLocks noChangeAspect="1"/>
          </p:cNvPicPr>
          <p:nvPr/>
        </p:nvPicPr>
        <p:blipFill>
          <a:blip r:embed="rId2"/>
          <a:stretch>
            <a:fillRect/>
          </a:stretch>
        </p:blipFill>
        <p:spPr>
          <a:xfrm>
            <a:off x="5039094" y="3765573"/>
            <a:ext cx="5679666" cy="1949427"/>
          </a:xfrm>
          <a:prstGeom prst="rect">
            <a:avLst/>
          </a:prstGeom>
          <a:effectLst>
            <a:outerShdw sx="100000" sy="100000" kx="0" ky="0" algn="bl" rotWithShape="0" blurRad="76200" dist="25400" dir="5400000">
              <a:srgbClr val="1F2A24">
                <a:alpha val="18000"/>
              </a:srgbClr>
            </a:outerShdw>
          </a:effectLst>
        </p:spPr>
      </p:pic>
      <p:sp>
        <p:nvSpPr>
          <p:cNvPr id="14" name="Text 10"/>
          <p:cNvSpPr txBox="1"/>
          <p:nvPr/>
        </p:nvSpPr>
        <p:spPr>
          <a:xfrm>
            <a:off x="5039094" y="5806440"/>
            <a:ext cx="5679666" cy="274320"/>
          </a:xfrm>
          <a:prstGeom prst="rect">
            <a:avLst/>
          </a:prstGeom>
          <a:noFill/>
          <a:ln/>
        </p:spPr>
        <p:txBody>
          <a:bodyPr wrap="square" lIns="0" tIns="0" rIns="0" bIns="0" rtlCol="0" anchor="t"/>
          <a:lstStyle/>
          <a:p>
            <a:pPr algn="ctr" indent="0" marL="0">
              <a:buNone/>
            </a:pPr>
            <a:r>
              <a:rPr lang="en-US" sz="1100" i="1" dirty="0">
                <a:solidFill>
                  <a:schemeClr val="accent5"/>
                </a:solidFill>
              </a:rPr>
              <a:t>Documents retrieved from the yoga_booking database</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7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All end-to-end tests passed against MongoDB Atlas</a:t>
            </a:r>
            <a:endParaRPr lang="en-US" sz="3000" dirty="0"/>
          </a:p>
        </p:txBody>
      </p:sp>
      <p:sp>
        <p:nvSpPr>
          <p:cNvPr id="3" name="Test summary"/>
          <p:cNvSpPr/>
          <p:nvPr/>
        </p:nvSpPr>
        <p:spPr>
          <a:xfrm>
            <a:off x="548640" y="1371600"/>
            <a:ext cx="3017520" cy="4663440"/>
          </a:xfrm>
          <a:prstGeom prst="roundRect">
            <a:avLst>
              <a:gd name="adj" fmla="val 3636"/>
            </a:avLst>
          </a:prstGeom>
          <a:solidFill>
            <a:schemeClr val="accent1"/>
          </a:solidFill>
          <a:ln/>
        </p:spPr>
      </p:sp>
      <p:sp>
        <p:nvSpPr>
          <p:cNvPr id="4" name="Text 2"/>
          <p:cNvSpPr txBox="1"/>
          <p:nvPr/>
        </p:nvSpPr>
        <p:spPr>
          <a:xfrm>
            <a:off x="548640" y="2194560"/>
            <a:ext cx="3017520" cy="1097280"/>
          </a:xfrm>
          <a:prstGeom prst="rect">
            <a:avLst/>
          </a:prstGeom>
          <a:noFill/>
          <a:ln/>
        </p:spPr>
        <p:txBody>
          <a:bodyPr wrap="square" lIns="0" tIns="0" rIns="0" bIns="0" rtlCol="0" anchor="t"/>
          <a:lstStyle/>
          <a:p>
            <a:pPr algn="ctr" indent="0" marL="0">
              <a:buNone/>
            </a:pPr>
            <a:r>
              <a:rPr lang="en-US" sz="6000" b="1" dirty="0">
                <a:solidFill>
                  <a:schemeClr val="bg1"/>
                </a:solidFill>
                <a:latin typeface="Cambria" pitchFamily="34" charset="0"/>
                <a:ea typeface="Cambria" pitchFamily="34" charset="-122"/>
                <a:cs typeface="Cambria" pitchFamily="34" charset="-120"/>
              </a:rPr>
              <a:t>10 / 10</a:t>
            </a:r>
            <a:endParaRPr lang="en-US" sz="6000" dirty="0"/>
          </a:p>
        </p:txBody>
      </p:sp>
      <p:sp>
        <p:nvSpPr>
          <p:cNvPr id="5" name="Text 3"/>
          <p:cNvSpPr txBox="1"/>
          <p:nvPr/>
        </p:nvSpPr>
        <p:spPr>
          <a:xfrm>
            <a:off x="548640" y="3291840"/>
            <a:ext cx="3017520" cy="457200"/>
          </a:xfrm>
          <a:prstGeom prst="rect">
            <a:avLst/>
          </a:prstGeom>
          <a:noFill/>
          <a:ln/>
        </p:spPr>
        <p:txBody>
          <a:bodyPr wrap="square" lIns="0" tIns="0" rIns="0" bIns="0" rtlCol="0" anchor="t"/>
          <a:lstStyle/>
          <a:p>
            <a:pPr algn="ctr" indent="0" marL="0">
              <a:buNone/>
            </a:pPr>
            <a:r>
              <a:rPr lang="en-US" sz="1800" dirty="0">
                <a:solidFill>
                  <a:schemeClr val="bg1"/>
                </a:solidFill>
              </a:rPr>
              <a:t>API scenarios passed</a:t>
            </a:r>
            <a:endParaRPr lang="en-US" sz="1800" dirty="0"/>
          </a:p>
        </p:txBody>
      </p:sp>
      <p:pic>
        <p:nvPicPr>
          <p:cNvPr id="6" name="Pass icon" descr="preencoded.png">    </p:cNvPr>
          <p:cNvPicPr>
            <a:picLocks noChangeAspect="1"/>
          </p:cNvPicPr>
          <p:nvPr/>
        </p:nvPicPr>
        <p:blipFill>
          <a:blip r:embed="rId1"/>
          <a:stretch>
            <a:fillRect/>
          </a:stretch>
        </p:blipFill>
        <p:spPr>
          <a:xfrm>
            <a:off x="1737360" y="4206240"/>
            <a:ext cx="640080" cy="640080"/>
          </a:xfrm>
          <a:prstGeom prst="rect">
            <a:avLst/>
          </a:prstGeom>
        </p:spPr>
      </p:pic>
      <p:graphicFrame>
        <p:nvGraphicFramePr>
          <p:cNvPr id="13" name="Test table"/>
          <p:cNvGraphicFramePr>
            <a:graphicFrameLocks noGrp="1"/>
          </p:cNvGraphicFramePr>
          <p:nvPr>
            <p:extLst>
              <p:ext uri="{D42A27DB-BD31-4B8C-83A1-F6EECF244321}">
                <p14:modId xmlns:p14="http://schemas.microsoft.com/office/powerpoint/2010/main" val="1579011935"/>
              </p:ext>
            </p:extLst>
          </p:nvPr>
        </p:nvGraphicFramePr>
        <p:xfrm>
          <a:off x="3840480" y="1371600"/>
          <a:ext cx="7802575" cy="914400"/>
        </p:xfrm>
        <a:graphic>
          <a:graphicData uri="http://schemas.openxmlformats.org/drawingml/2006/table">
            <a:tbl>
              <a:tblPr/>
              <a:tblGrid>
                <a:gridCol w="3566160"/>
                <a:gridCol w="3291840"/>
                <a:gridCol w="941832"/>
              </a:tblGrid>
              <a:tr h="420624">
                <a:tc>
                  <a:txBody>
                    <a:bodyPr/>
                    <a:lstStyle/>
                    <a:p>
                      <a:pPr indent="0" marL="0">
                        <a:buNone/>
                      </a:pPr>
                      <a:r>
                        <a:rPr lang="en-US" sz="1300" b="1" dirty="0">
                          <a:solidFill>
                            <a:srgbClr val="FFFFFF"/>
                          </a:solidFill>
                        </a:rPr>
                        <a:t>Scenario</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2E4D3D"/>
                    </a:solidFill>
                  </a:tcPr>
                </a:tc>
                <a:tc>
                  <a:txBody>
                    <a:bodyPr/>
                    <a:lstStyle/>
                    <a:p>
                      <a:pPr indent="0" marL="0">
                        <a:buNone/>
                      </a:pPr>
                      <a:r>
                        <a:rPr lang="en-US" sz="1300" b="1" dirty="0">
                          <a:solidFill>
                            <a:srgbClr val="FFFFFF"/>
                          </a:solidFill>
                        </a:rPr>
                        <a:t>Result</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2E4D3D"/>
                    </a:solidFill>
                  </a:tcPr>
                </a:tc>
                <a:tc>
                  <a:txBody>
                    <a:bodyPr/>
                    <a:lstStyle/>
                    <a:p>
                      <a:pPr indent="0" marL="0">
                        <a:buNone/>
                      </a:pP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2E4D3D"/>
                    </a:solidFill>
                  </a:tcPr>
                </a:tc>
              </a:tr>
              <a:tr h="420624">
                <a:tc>
                  <a:txBody>
                    <a:bodyPr/>
                    <a:lstStyle/>
                    <a:p>
                      <a:pPr indent="0" marL="0">
                        <a:buNone/>
                      </a:pPr>
                      <a:r>
                        <a:rPr lang="en-US" sz="1300" dirty="0">
                          <a:solidFill>
                            <a:srgbClr val="1F2A24"/>
                          </a:solidFill>
                        </a:rPr>
                        <a:t>Member login</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JWT issued, password hidden</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F855A"/>
                          </a:solidFill>
                        </a:rPr>
                        <a:t>Pass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420624">
                <a:tc>
                  <a:txBody>
                    <a:bodyPr/>
                    <a:lstStyle/>
                    <a:p>
                      <a:pPr indent="0" marL="0">
                        <a:buNone/>
                      </a:pPr>
                      <a:r>
                        <a:rPr lang="en-US" sz="1300" dirty="0">
                          <a:solidFill>
                            <a:srgbClr val="1F2A24"/>
                          </a:solidFill>
                        </a:rPr>
                        <a:t>Book a class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Spots left 10 → 9</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algn="ctr" indent="0" marL="0">
                        <a:buNone/>
                      </a:pPr>
                      <a:r>
                        <a:rPr lang="en-US" sz="1300" b="1" dirty="0">
                          <a:solidFill>
                            <a:srgbClr val="2F855A"/>
                          </a:solidFill>
                        </a:rPr>
                        <a:t>Pass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r>
              <a:tr h="420624">
                <a:tc>
                  <a:txBody>
                    <a:bodyPr/>
                    <a:lstStyle/>
                    <a:p>
                      <a:pPr indent="0" marL="0">
                        <a:buNone/>
                      </a:pPr>
                      <a:r>
                        <a:rPr lang="en-US" sz="1300" dirty="0">
                          <a:solidFill>
                            <a:srgbClr val="1F2A24"/>
                          </a:solidFill>
                        </a:rPr>
                        <a:t>Book the same class again</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409 “already booked”</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F855A"/>
                          </a:solidFill>
                        </a:rPr>
                        <a:t>Pass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420624">
                <a:tc>
                  <a:txBody>
                    <a:bodyPr/>
                    <a:lstStyle/>
                    <a:p>
                      <a:pPr indent="0" marL="0">
                        <a:buNone/>
                      </a:pPr>
                      <a:r>
                        <a:rPr lang="en-US" sz="1300" dirty="0">
                          <a:solidFill>
                            <a:srgbClr val="1F2A24"/>
                          </a:solidFill>
                        </a:rPr>
                        <a:t>List my bookings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Booking shown with class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algn="ctr" indent="0" marL="0">
                        <a:buNone/>
                      </a:pPr>
                      <a:r>
                        <a:rPr lang="en-US" sz="1300" b="1" dirty="0">
                          <a:solidFill>
                            <a:srgbClr val="2F855A"/>
                          </a:solidFill>
                        </a:rPr>
                        <a:t>Pass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r>
              <a:tr h="420624">
                <a:tc>
                  <a:txBody>
                    <a:bodyPr/>
                    <a:lstStyle/>
                    <a:p>
                      <a:pPr indent="0" marL="0">
                        <a:buNone/>
                      </a:pPr>
                      <a:r>
                        <a:rPr lang="en-US" sz="1300" dirty="0">
                          <a:solidFill>
                            <a:srgbClr val="1F2A24"/>
                          </a:solidFill>
                        </a:rPr>
                        <a:t>Cancel, then re-book</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Status cancelled → confirmed</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F855A"/>
                          </a:solidFill>
                        </a:rPr>
                        <a:t>Pass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420624">
                <a:tc>
                  <a:txBody>
                    <a:bodyPr/>
                    <a:lstStyle/>
                    <a:p>
                      <a:pPr indent="0" marL="0">
                        <a:buNone/>
                      </a:pPr>
                      <a:r>
                        <a:rPr lang="en-US" sz="1300" dirty="0">
                          <a:solidFill>
                            <a:srgbClr val="1F2A24"/>
                          </a:solidFill>
                        </a:rPr>
                        <a:t>Register a new user</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Account created (201)</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algn="ctr" indent="0" marL="0">
                        <a:buNone/>
                      </a:pPr>
                      <a:r>
                        <a:rPr lang="en-US" sz="1300" b="1" dirty="0">
                          <a:solidFill>
                            <a:srgbClr val="2F855A"/>
                          </a:solidFill>
                        </a:rPr>
                        <a:t>Pass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r>
              <a:tr h="420624">
                <a:tc>
                  <a:txBody>
                    <a:bodyPr/>
                    <a:lstStyle/>
                    <a:p>
                      <a:pPr indent="0" marL="0">
                        <a:buNone/>
                      </a:pPr>
                      <a:r>
                        <a:rPr lang="en-US" sz="1300" dirty="0">
                          <a:solidFill>
                            <a:srgbClr val="1F2A24"/>
                          </a:solidFill>
                        </a:rPr>
                        <a:t>Admin stats and attendees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Counts and member listed</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F855A"/>
                          </a:solidFill>
                        </a:rPr>
                        <a:t>Pass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420624">
                <a:tc>
                  <a:txBody>
                    <a:bodyPr/>
                    <a:lstStyle/>
                    <a:p>
                      <a:pPr indent="0" marL="0">
                        <a:buNone/>
                      </a:pPr>
                      <a:r>
                        <a:rPr lang="en-US" sz="1300" dirty="0">
                          <a:solidFill>
                            <a:srgbClr val="1F2A24"/>
                          </a:solidFill>
                        </a:rPr>
                        <a:t>Admin create / edit / delete class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All succeeded</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algn="ctr" indent="0" marL="0">
                        <a:buNone/>
                      </a:pPr>
                      <a:r>
                        <a:rPr lang="en-US" sz="1300" b="1" dirty="0">
                          <a:solidFill>
                            <a:srgbClr val="2F855A"/>
                          </a:solidFill>
                        </a:rPr>
                        <a:t>Pass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r>
              <a:tr h="420624">
                <a:tc>
                  <a:txBody>
                    <a:bodyPr/>
                    <a:lstStyle/>
                    <a:p>
                      <a:pPr indent="0" marL="0">
                        <a:buNone/>
                      </a:pPr>
                      <a:r>
                        <a:rPr lang="en-US" sz="1300" dirty="0">
                          <a:solidFill>
                            <a:srgbClr val="1F2A24"/>
                          </a:solidFill>
                        </a:rPr>
                        <a:t>Malformed class id</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404 Not found</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F855A"/>
                          </a:solidFill>
                        </a:rPr>
                        <a:t>Pass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FFFFFF"/>
                    </a:solidFill>
                  </a:tcPr>
                </a:tc>
              </a:tr>
              <a:tr h="420624">
                <a:tc>
                  <a:txBody>
                    <a:bodyPr/>
                    <a:lstStyle/>
                    <a:p>
                      <a:pPr indent="0" marL="0">
                        <a:buNone/>
                      </a:pPr>
                      <a:r>
                        <a:rPr lang="en-US" sz="1300" dirty="0">
                          <a:solidFill>
                            <a:srgbClr val="1F2A24"/>
                          </a:solidFill>
                        </a:rPr>
                        <a:t>Member opens admin stats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403 Admin access required</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c>
                  <a:txBody>
                    <a:bodyPr/>
                    <a:lstStyle/>
                    <a:p>
                      <a:pPr algn="ctr" indent="0" marL="0">
                        <a:buNone/>
                      </a:pPr>
                      <a:r>
                        <a:rPr lang="en-US" sz="1300" b="1" dirty="0">
                          <a:solidFill>
                            <a:srgbClr val="2F855A"/>
                          </a:solidFill>
                        </a:rPr>
                        <a:t>Pass</a:t>
                      </a:r>
                      <a:endParaRPr lang="en-US" sz="1300" dirty="0"/>
                    </a:p>
                  </a:txBody>
                  <a:tcPr marL="91440" marR="91440" marT="45720" marB="45720" anchor="ctr">
                    <a:lnL w="6350" cap="flat" cmpd="sng" algn="ctr">
                      <a:solidFill>
                        <a:srgbClr val="D5DDD8"/>
                      </a:solidFill>
                      <a:prstDash val="solid"/>
                      <a:round/>
                      <a:headEnd type="none" w="med" len="med"/>
                      <a:tailEnd type="none" w="med" len="med"/>
                    </a:lnL>
                    <a:lnR w="6350" cap="flat" cmpd="sng" algn="ctr">
                      <a:solidFill>
                        <a:srgbClr val="D5DDD8"/>
                      </a:solidFill>
                      <a:prstDash val="solid"/>
                      <a:round/>
                      <a:headEnd type="none" w="med" len="med"/>
                      <a:tailEnd type="none" w="med" len="med"/>
                    </a:lnR>
                    <a:lnT w="6350" cap="flat" cmpd="sng" algn="ctr">
                      <a:solidFill>
                        <a:srgbClr val="D5DDD8"/>
                      </a:solidFill>
                      <a:prstDash val="solid"/>
                      <a:round/>
                      <a:headEnd type="none" w="med" len="med"/>
                      <a:tailEnd type="none" w="med" len="med"/>
                    </a:lnT>
                    <a:lnB w="6350" cap="flat" cmpd="sng" algn="ctr">
                      <a:solidFill>
                        <a:srgbClr val="D5DDD8"/>
                      </a:solidFill>
                      <a:prstDash val="solid"/>
                      <a:round/>
                      <a:headEnd type="none" w="med" len="med"/>
                      <a:tailEnd type="none" w="med" len="med"/>
                    </a:lnB>
                    <a:solidFill>
                      <a:srgbClr val="EEF4F0"/>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67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280160"/>
            <a:ext cx="5486400" cy="73152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Conclusion</a:t>
            </a:r>
            <a:endParaRPr lang="en-US" sz="3600" dirty="0"/>
          </a:p>
        </p:txBody>
      </p:sp>
      <p:sp>
        <p:nvSpPr>
          <p:cNvPr id="3" name="Text 1"/>
          <p:cNvSpPr txBox="1"/>
          <p:nvPr/>
        </p:nvSpPr>
        <p:spPr>
          <a:xfrm>
            <a:off x="548640" y="2286000"/>
            <a:ext cx="5303520" cy="3291840"/>
          </a:xfrm>
          <a:prstGeom prst="rect">
            <a:avLst/>
          </a:prstGeom>
          <a:noFill/>
          <a:ln/>
        </p:spPr>
        <p:txBody>
          <a:bodyPr wrap="square" lIns="0" tIns="0" rIns="0" bIns="0" rtlCol="0" anchor="t"/>
          <a:lstStyle/>
          <a:p>
            <a:pPr marL="190500" indent="-190500">
              <a:spcAft>
                <a:spcPts val="600"/>
              </a:spcAft>
              <a:buSzPct val="100000"/>
              <a:buChar char="•"/>
            </a:pPr>
            <a:r>
              <a:rPr lang="en-US" sz="1700" dirty="0">
                <a:solidFill>
                  <a:schemeClr val="bg2"/>
                </a:solidFill>
              </a:rPr>
              <a:t>A complete, working booking system: React UI, Express REST API and MongoDB Atlas</a:t>
            </a:r>
            <a:endParaRPr lang="en-US" sz="1400" dirty="0"/>
          </a:p>
          <a:p>
            <a:pPr marL="190500" indent="-190500">
              <a:spcAft>
                <a:spcPts val="600"/>
              </a:spcAft>
              <a:buSzPct val="100000"/>
              <a:buChar char="•"/>
            </a:pPr>
            <a:r>
              <a:rPr lang="en-US" sz="1700" dirty="0">
                <a:solidFill>
                  <a:schemeClr val="bg2"/>
                </a:solidFill>
              </a:rPr>
              <a:t>Live seat availability and strict server rules prevent overbooking</a:t>
            </a:r>
            <a:endParaRPr lang="en-US" sz="1400" dirty="0"/>
          </a:p>
          <a:p>
            <a:pPr marL="190500" indent="-190500">
              <a:spcAft>
                <a:spcPts val="600"/>
              </a:spcAft>
              <a:buSzPct val="100000"/>
              <a:buChar char="•"/>
            </a:pPr>
            <a:r>
              <a:rPr lang="en-US" sz="1700" dirty="0">
                <a:solidFill>
                  <a:schemeClr val="bg2"/>
                </a:solidFill>
              </a:rPr>
              <a:t>Secure accounts with bcrypt and JWT, and an admin role</a:t>
            </a:r>
            <a:endParaRPr lang="en-US" sz="1400" dirty="0"/>
          </a:p>
          <a:p>
            <a:pPr marL="190500" indent="-190500">
              <a:spcAft>
                <a:spcPts val="600"/>
              </a:spcAft>
              <a:buSzPct val="100000"/>
              <a:buChar char="•"/>
            </a:pPr>
            <a:r>
              <a:rPr lang="en-US" sz="1700" dirty="0">
                <a:solidFill>
                  <a:schemeClr val="bg2"/>
                </a:solidFill>
              </a:rPr>
              <a:t>Clean, responsive design that works on desktop and mobile</a:t>
            </a:r>
            <a:endParaRPr lang="en-US" sz="1400" dirty="0"/>
          </a:p>
        </p:txBody>
      </p:sp>
      <p:sp>
        <p:nvSpPr>
          <p:cNvPr id="4" name="Future card"/>
          <p:cNvSpPr/>
          <p:nvPr/>
        </p:nvSpPr>
        <p:spPr>
          <a:xfrm>
            <a:off x="6400800" y="1280160"/>
            <a:ext cx="5239512" cy="4114800"/>
          </a:xfrm>
          <a:prstGeom prst="roundRect">
            <a:avLst>
              <a:gd name="adj" fmla="val 3333"/>
            </a:avLst>
          </a:prstGeom>
          <a:solidFill>
            <a:schemeClr val="bg1"/>
          </a:solidFill>
          <a:ln/>
        </p:spPr>
      </p:sp>
      <p:sp>
        <p:nvSpPr>
          <p:cNvPr id="5" name="Future circle"/>
          <p:cNvSpPr/>
          <p:nvPr/>
        </p:nvSpPr>
        <p:spPr>
          <a:xfrm>
            <a:off x="6720840" y="1600200"/>
            <a:ext cx="640080" cy="640080"/>
          </a:xfrm>
          <a:prstGeom prst="ellipse">
            <a:avLst/>
          </a:prstGeom>
          <a:solidFill>
            <a:schemeClr val="accent1"/>
          </a:solidFill>
          <a:ln/>
        </p:spPr>
      </p:sp>
      <p:pic>
        <p:nvPicPr>
          <p:cNvPr id="6" name="Future icon" descr="preencoded.png">    </p:cNvPr>
          <p:cNvPicPr>
            <a:picLocks noChangeAspect="1"/>
          </p:cNvPicPr>
          <p:nvPr/>
        </p:nvPicPr>
        <p:blipFill>
          <a:blip r:embed="rId1"/>
          <a:stretch>
            <a:fillRect/>
          </a:stretch>
        </p:blipFill>
        <p:spPr>
          <a:xfrm>
            <a:off x="6880860" y="1760220"/>
            <a:ext cx="320040" cy="320040"/>
          </a:xfrm>
          <a:prstGeom prst="rect">
            <a:avLst/>
          </a:prstGeom>
        </p:spPr>
      </p:pic>
      <p:sp>
        <p:nvSpPr>
          <p:cNvPr id="7" name="Text 4"/>
          <p:cNvSpPr txBox="1"/>
          <p:nvPr/>
        </p:nvSpPr>
        <p:spPr>
          <a:xfrm>
            <a:off x="7543800" y="1600200"/>
            <a:ext cx="3657600" cy="64008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Future scope</a:t>
            </a:r>
            <a:endParaRPr lang="en-US" sz="2400" dirty="0"/>
          </a:p>
        </p:txBody>
      </p:sp>
      <p:sp>
        <p:nvSpPr>
          <p:cNvPr id="8" name="Text 5"/>
          <p:cNvSpPr txBox="1"/>
          <p:nvPr/>
        </p:nvSpPr>
        <p:spPr>
          <a:xfrm>
            <a:off x="6766560" y="2514600"/>
            <a:ext cx="4572000" cy="2697480"/>
          </a:xfrm>
          <a:prstGeom prst="rect">
            <a:avLst/>
          </a:prstGeom>
          <a:noFill/>
          <a:ln/>
        </p:spPr>
        <p:txBody>
          <a:bodyPr wrap="square" lIns="0" tIns="0" rIns="0" bIns="0" rtlCol="0" anchor="t"/>
          <a:lstStyle/>
          <a:p>
            <a:pPr marL="190500" indent="-190500">
              <a:spcAft>
                <a:spcPts val="600"/>
              </a:spcAft>
              <a:buSzPct val="100000"/>
              <a:buChar char="•"/>
            </a:pPr>
            <a:r>
              <a:rPr lang="en-US" sz="1600" dirty="0">
                <a:solidFill>
                  <a:schemeClr val="tx1"/>
                </a:solidFill>
              </a:rPr>
              <a:t>Online payments for class packs</a:t>
            </a:r>
            <a:endParaRPr lang="en-US" sz="1400" dirty="0"/>
          </a:p>
          <a:p>
            <a:pPr marL="190500" indent="-190500">
              <a:spcAft>
                <a:spcPts val="600"/>
              </a:spcAft>
              <a:buSzPct val="100000"/>
              <a:buChar char="•"/>
            </a:pPr>
            <a:r>
              <a:rPr lang="en-US" sz="1600" dirty="0">
                <a:solidFill>
                  <a:schemeClr val="tx1"/>
                </a:solidFill>
              </a:rPr>
              <a:t>Email / SMS reminders before class</a:t>
            </a:r>
            <a:endParaRPr lang="en-US" sz="1400" dirty="0"/>
          </a:p>
          <a:p>
            <a:pPr marL="190500" indent="-190500">
              <a:spcAft>
                <a:spcPts val="600"/>
              </a:spcAft>
              <a:buSzPct val="100000"/>
              <a:buChar char="•"/>
            </a:pPr>
            <a:r>
              <a:rPr lang="en-US" sz="1600" dirty="0">
                <a:solidFill>
                  <a:schemeClr val="tx1"/>
                </a:solidFill>
              </a:rPr>
              <a:t>Waiting list that fills cancelled spots</a:t>
            </a:r>
            <a:endParaRPr lang="en-US" sz="1400" dirty="0"/>
          </a:p>
          <a:p>
            <a:pPr marL="190500" indent="-190500">
              <a:spcAft>
                <a:spcPts val="600"/>
              </a:spcAft>
              <a:buSzPct val="100000"/>
              <a:buChar char="•"/>
            </a:pPr>
            <a:r>
              <a:rPr lang="en-US" sz="1600" dirty="0">
                <a:solidFill>
                  <a:schemeClr val="tx1"/>
                </a:solidFill>
              </a:rPr>
              <a:t>Instructor accounts and attendance marking</a:t>
            </a:r>
            <a:endParaRPr lang="en-US" sz="1400" dirty="0"/>
          </a:p>
          <a:p>
            <a:pPr marL="190500" indent="-190500">
              <a:spcAft>
                <a:spcPts val="600"/>
              </a:spcAft>
              <a:buSzPct val="100000"/>
              <a:buChar char="•"/>
            </a:pPr>
            <a:r>
              <a:rPr lang="en-US" sz="1600" dirty="0">
                <a:solidFill>
                  <a:schemeClr val="tx1"/>
                </a:solidFill>
              </a:rPr>
              <a:t>Recurring weekly class templates</a:t>
            </a:r>
            <a:endParaRPr lang="en-US" sz="1400" dirty="0"/>
          </a:p>
          <a:p>
            <a:pPr marL="190500" indent="-190500">
              <a:spcAft>
                <a:spcPts val="600"/>
              </a:spcAft>
              <a:buSzPct val="100000"/>
              <a:buChar char="•"/>
            </a:pPr>
            <a:r>
              <a:rPr lang="en-US" sz="1600" dirty="0">
                <a:solidFill>
                  <a:schemeClr val="tx1"/>
                </a:solidFill>
              </a:rPr>
              <a:t>Cloud deployment with CI from GitHub</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Logo backdrop"/>
          <p:cNvSpPr/>
          <p:nvPr/>
        </p:nvSpPr>
        <p:spPr>
          <a:xfrm>
            <a:off x="5547208" y="1188720"/>
            <a:ext cx="1097280" cy="1097280"/>
          </a:xfrm>
          <a:prstGeom prst="ellipse">
            <a:avLst/>
          </a:prstGeom>
          <a:solidFill>
            <a:schemeClr val="bg1"/>
          </a:solidFill>
          <a:ln/>
        </p:spPr>
      </p:sp>
      <p:pic>
        <p:nvPicPr>
          <p:cNvPr id="3" name="Karunya logo" descr="preencoded.png">    </p:cNvPr>
          <p:cNvPicPr>
            <a:picLocks noChangeAspect="1"/>
          </p:cNvPicPr>
          <p:nvPr/>
        </p:nvPicPr>
        <p:blipFill>
          <a:blip r:embed="rId1"/>
          <a:stretch>
            <a:fillRect/>
          </a:stretch>
        </p:blipFill>
        <p:spPr>
          <a:xfrm>
            <a:off x="5702656" y="1344168"/>
            <a:ext cx="786384" cy="744105"/>
          </a:xfrm>
          <a:prstGeom prst="rect">
            <a:avLst/>
          </a:prstGeom>
        </p:spPr>
      </p:pic>
      <p:sp>
        <p:nvSpPr>
          <p:cNvPr id="4" name="Text 1"/>
          <p:cNvSpPr txBox="1"/>
          <p:nvPr/>
        </p:nvSpPr>
        <p:spPr>
          <a:xfrm>
            <a:off x="0" y="2606040"/>
            <a:ext cx="12191695" cy="1005840"/>
          </a:xfrm>
          <a:prstGeom prst="rect">
            <a:avLst/>
          </a:prstGeom>
          <a:noFill/>
          <a:ln/>
        </p:spPr>
        <p:txBody>
          <a:bodyPr wrap="square" lIns="0" tIns="0" rIns="0" bIns="0" rtlCol="0" anchor="t"/>
          <a:lstStyle/>
          <a:p>
            <a:pPr algn="ctr" indent="0" marL="0">
              <a:buNone/>
            </a:pPr>
            <a:r>
              <a:rPr lang="en-US" sz="5400" b="1" dirty="0">
                <a:solidFill>
                  <a:schemeClr val="bg1"/>
                </a:solidFill>
                <a:latin typeface="Cambria" pitchFamily="34" charset="0"/>
                <a:ea typeface="Cambria" pitchFamily="34" charset="-122"/>
                <a:cs typeface="Cambria" pitchFamily="34" charset="-120"/>
              </a:rPr>
              <a:t>Thank you</a:t>
            </a:r>
            <a:endParaRPr lang="en-US" sz="5400" dirty="0"/>
          </a:p>
        </p:txBody>
      </p:sp>
      <p:sp>
        <p:nvSpPr>
          <p:cNvPr id="5" name="Text 2"/>
          <p:cNvSpPr txBox="1"/>
          <p:nvPr/>
        </p:nvSpPr>
        <p:spPr>
          <a:xfrm>
            <a:off x="0" y="3611880"/>
            <a:ext cx="12191695" cy="548640"/>
          </a:xfrm>
          <a:prstGeom prst="rect">
            <a:avLst/>
          </a:prstGeom>
          <a:noFill/>
          <a:ln/>
        </p:spPr>
        <p:txBody>
          <a:bodyPr wrap="square" lIns="0" tIns="0" rIns="0" bIns="0" rtlCol="0" anchor="t"/>
          <a:lstStyle/>
          <a:p>
            <a:pPr algn="ctr" indent="0" marL="0">
              <a:buNone/>
            </a:pPr>
            <a:r>
              <a:rPr lang="en-US" sz="2400" dirty="0">
                <a:solidFill>
                  <a:schemeClr val="accent2"/>
                </a:solidFill>
              </a:rPr>
              <a:t>Questions?</a:t>
            </a:r>
            <a:endParaRPr lang="en-US" sz="2400" dirty="0"/>
          </a:p>
        </p:txBody>
      </p:sp>
      <p:sp>
        <p:nvSpPr>
          <p:cNvPr id="6" name="Text 3"/>
          <p:cNvSpPr txBox="1"/>
          <p:nvPr/>
        </p:nvSpPr>
        <p:spPr>
          <a:xfrm>
            <a:off x="0" y="4663440"/>
            <a:ext cx="12191695" cy="365760"/>
          </a:xfrm>
          <a:prstGeom prst="rect">
            <a:avLst/>
          </a:prstGeom>
          <a:noFill/>
          <a:ln/>
        </p:spPr>
        <p:txBody>
          <a:bodyPr wrap="square" lIns="0" tIns="0" rIns="0" bIns="0" rtlCol="0" anchor="t"/>
          <a:lstStyle/>
          <a:p>
            <a:pPr algn="ctr" indent="0" marL="0">
              <a:buNone/>
            </a:pPr>
            <a:r>
              <a:rPr lang="en-US" sz="1600" dirty="0">
                <a:solidFill>
                  <a:schemeClr val="accent3"/>
                </a:solidFill>
              </a:rPr>
              <a:t>STUDENT NAME (REG.NO)  ·  Web Technology (23CS2048)</a:t>
            </a:r>
            <a:endParaRPr lang="en-US" sz="1600" dirty="0"/>
          </a:p>
        </p:txBody>
      </p:sp>
      <p:sp>
        <p:nvSpPr>
          <p:cNvPr id="7" name="Text 4"/>
          <p:cNvSpPr txBox="1"/>
          <p:nvPr/>
        </p:nvSpPr>
        <p:spPr>
          <a:xfrm>
            <a:off x="0" y="5120640"/>
            <a:ext cx="12191695" cy="365760"/>
          </a:xfrm>
          <a:prstGeom prst="rect">
            <a:avLst/>
          </a:prstGeom>
          <a:noFill/>
          <a:ln/>
        </p:spPr>
        <p:txBody>
          <a:bodyPr wrap="square" lIns="0" tIns="0" rIns="0" bIns="0" rtlCol="0" anchor="t"/>
          <a:lstStyle/>
          <a:p>
            <a:pPr algn="ctr" indent="0" marL="0">
              <a:buNone/>
            </a:pPr>
            <a:r>
              <a:rPr lang="en-US" sz="1400" dirty="0">
                <a:solidFill>
                  <a:schemeClr val="bg2"/>
                </a:solidFill>
              </a:rPr>
              <a:t>Demo logins – Admin: admin@yoga.com / admin123   ·   Member: member@yoga.com / member123</a:t>
            </a:r>
            <a:endParaRPr lang="en-US" sz="1400" dirty="0"/>
          </a:p>
        </p:txBody>
      </p:sp>
    </p:spTree>
  </p:cSld>
  <p:clrMapOvr>
    <a:masterClrMapping/>
  </p:clrMapOvr>
</p:sld>
</file>

<file path=ppt/theme/theme1.xml><?xml version="1.0" encoding="utf-8"?>
<a:theme xmlns:a="http://schemas.openxmlformats.org/drawingml/2006/main" name="Serenity">
  <a:themeElements>
    <a:clrScheme name="Serenity">
      <a:dk1>
        <a:srgbClr val="1F2A24"/>
      </a:dk1>
      <a:lt1>
        <a:srgbClr val="FFFFFF"/>
      </a:lt1>
      <a:dk2>
        <a:srgbClr val="2E4D3D"/>
      </a:dk2>
      <a:lt2>
        <a:srgbClr val="EEF4F0"/>
      </a:lt2>
      <a:accent1>
        <a:srgbClr val="4F7C64"/>
      </a:accent1>
      <a:accent2>
        <a:srgbClr val="D9A66B"/>
      </a:accent2>
      <a:accent3>
        <a:srgbClr val="9CC5AD"/>
      </a:accent3>
      <a:accent4>
        <a:srgbClr val="C2453D"/>
      </a:accent4>
      <a:accent5>
        <a:srgbClr val="6B7671"/>
      </a:accent5>
      <a:accent6>
        <a:srgbClr val="2F855A"/>
      </a:accent6>
      <a:hlink>
        <a:srgbClr val="3D634F"/>
      </a:hlink>
      <a:folHlink>
        <a:srgbClr val="6B7671"/>
      </a:folHlink>
    </a:clrScheme>
    <a:fontScheme name="Seren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Yoga Class Booking System</dc:title>
  <dc:subject>Web Technology (23CS2048) – Skill Based Evaluation</dc:subject>
  <dc:creator>PptxGenJS</dc:creator>
  <cp:lastModifiedBy>PptxGenJS</cp:lastModifiedBy>
  <cp:revision>1</cp:revision>
  <dcterms:created xsi:type="dcterms:W3CDTF">2026-10-28T20:40:07Z</dcterms:created>
  <dcterms:modified xsi:type="dcterms:W3CDTF">2026-10-28T20:40:07Z</dcterms:modified>
</cp:coreProperties>
</file>